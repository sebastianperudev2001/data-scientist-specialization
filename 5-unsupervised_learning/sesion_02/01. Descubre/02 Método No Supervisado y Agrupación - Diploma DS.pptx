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1.jpg" ContentType="image/jpeg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9.jpg" ContentType="image/jpeg"/>
  <Override PartName="/ppt/media/image20.jpg" ContentType="image/jpeg"/>
  <Override PartName="/ppt/media/image2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0" r:id="rId2"/>
    <p:sldId id="375" r:id="rId3"/>
    <p:sldId id="376" r:id="rId4"/>
    <p:sldId id="257" r:id="rId5"/>
    <p:sldId id="324" r:id="rId6"/>
    <p:sldId id="33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s://www.somospacientes.com/noticias/avances/los-jovenes-que-abusan-de-la-tv-tendran-peor-funcion-cognitiva-en-el-futuro/" TargetMode="External"/><Relationship Id="rId1" Type="http://schemas.openxmlformats.org/officeDocument/2006/relationships/image" Target="../media/image19.jpg"/><Relationship Id="rId4" Type="http://schemas.openxmlformats.org/officeDocument/2006/relationships/image" Target="../media/image21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s://www.somospacientes.com/noticias/avances/los-jovenes-que-abusan-de-la-tv-tendran-peor-funcion-cognitiva-en-el-futuro/" TargetMode="External"/><Relationship Id="rId1" Type="http://schemas.openxmlformats.org/officeDocument/2006/relationships/image" Target="../media/image19.jpg"/><Relationship Id="rId4" Type="http://schemas.openxmlformats.org/officeDocument/2006/relationships/image" Target="../media/image2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B2A183-FEB1-4C3D-B1D6-CAD3B9B9CB25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8B2D0B81-1C18-4388-AF26-55DA0E435FDD}">
      <dgm:prSet phldrT="[Texto]"/>
      <dgm:spPr/>
      <dgm:t>
        <a:bodyPr/>
        <a:lstStyle/>
        <a:p>
          <a:r>
            <a:rPr lang="es-MX" dirty="0"/>
            <a:t>COMENZADORES</a:t>
          </a:r>
          <a:endParaRPr lang="es-PE" dirty="0"/>
        </a:p>
      </dgm:t>
    </dgm:pt>
    <dgm:pt modelId="{9F5615D7-294E-49A7-9E78-BF7FE3CF6405}" type="parTrans" cxnId="{A8CBA79D-8335-41E1-9716-D9D9CCB772DA}">
      <dgm:prSet/>
      <dgm:spPr/>
      <dgm:t>
        <a:bodyPr/>
        <a:lstStyle/>
        <a:p>
          <a:endParaRPr lang="es-PE"/>
        </a:p>
      </dgm:t>
    </dgm:pt>
    <dgm:pt modelId="{FE140FA4-8A7F-45D1-9D69-E393C6416E28}" type="sibTrans" cxnId="{A8CBA79D-8335-41E1-9716-D9D9CCB772DA}">
      <dgm:prSet/>
      <dgm:spPr/>
      <dgm:t>
        <a:bodyPr/>
        <a:lstStyle/>
        <a:p>
          <a:endParaRPr lang="es-PE"/>
        </a:p>
      </dgm:t>
    </dgm:pt>
    <dgm:pt modelId="{B24804C0-790B-47E3-B3EB-C1649686B004}">
      <dgm:prSet phldrT="[Texto]"/>
      <dgm:spPr/>
      <dgm:t>
        <a:bodyPr/>
        <a:lstStyle/>
        <a:p>
          <a:r>
            <a:rPr lang="es-MX" dirty="0"/>
            <a:t>OBSERVADORES</a:t>
          </a:r>
          <a:endParaRPr lang="es-PE" dirty="0"/>
        </a:p>
      </dgm:t>
    </dgm:pt>
    <dgm:pt modelId="{ACBE324A-36C1-4D0F-83AA-72E3B62EA756}" type="parTrans" cxnId="{3D231218-D92D-43FC-AF35-9CC32ED4B682}">
      <dgm:prSet/>
      <dgm:spPr/>
      <dgm:t>
        <a:bodyPr/>
        <a:lstStyle/>
        <a:p>
          <a:endParaRPr lang="es-PE"/>
        </a:p>
      </dgm:t>
    </dgm:pt>
    <dgm:pt modelId="{79F558E7-6321-44B5-BEC8-CB32847B1CB7}" type="sibTrans" cxnId="{3D231218-D92D-43FC-AF35-9CC32ED4B682}">
      <dgm:prSet/>
      <dgm:spPr/>
      <dgm:t>
        <a:bodyPr/>
        <a:lstStyle/>
        <a:p>
          <a:endParaRPr lang="es-PE"/>
        </a:p>
      </dgm:t>
    </dgm:pt>
    <dgm:pt modelId="{E54FCE37-1A40-468C-9FED-B7502D491F58}">
      <dgm:prSet phldrT="[Texto]"/>
      <dgm:spPr/>
      <dgm:t>
        <a:bodyPr/>
        <a:lstStyle/>
        <a:p>
          <a:r>
            <a:rPr lang="es-MX" dirty="0"/>
            <a:t>COMPLETADORES</a:t>
          </a:r>
          <a:endParaRPr lang="es-PE" dirty="0"/>
        </a:p>
      </dgm:t>
    </dgm:pt>
    <dgm:pt modelId="{705DA5BA-C21C-4E41-8DC9-07988483F42A}" type="parTrans" cxnId="{5E42379E-841D-4312-BE53-C43558473CBC}">
      <dgm:prSet/>
      <dgm:spPr/>
      <dgm:t>
        <a:bodyPr/>
        <a:lstStyle/>
        <a:p>
          <a:endParaRPr lang="es-PE"/>
        </a:p>
      </dgm:t>
    </dgm:pt>
    <dgm:pt modelId="{4E217F5A-0D67-484D-AE89-1A5DD9F3E78F}" type="sibTrans" cxnId="{5E42379E-841D-4312-BE53-C43558473CBC}">
      <dgm:prSet/>
      <dgm:spPr/>
      <dgm:t>
        <a:bodyPr/>
        <a:lstStyle/>
        <a:p>
          <a:endParaRPr lang="es-PE"/>
        </a:p>
      </dgm:t>
    </dgm:pt>
    <dgm:pt modelId="{00CF1452-C298-4AA3-AA16-C7CF319B054B}" type="pres">
      <dgm:prSet presAssocID="{6AB2A183-FEB1-4C3D-B1D6-CAD3B9B9CB25}" presName="Name0" presStyleCnt="0">
        <dgm:presLayoutVars>
          <dgm:dir/>
          <dgm:resizeHandles val="exact"/>
        </dgm:presLayoutVars>
      </dgm:prSet>
      <dgm:spPr/>
    </dgm:pt>
    <dgm:pt modelId="{EC32ADEA-E842-434F-9DDD-317A36FA7878}" type="pres">
      <dgm:prSet presAssocID="{8B2D0B81-1C18-4388-AF26-55DA0E435FDD}" presName="compNode" presStyleCnt="0"/>
      <dgm:spPr/>
    </dgm:pt>
    <dgm:pt modelId="{0B754B8C-14FE-40F0-94D4-81C1CFE96537}" type="pres">
      <dgm:prSet presAssocID="{8B2D0B81-1C18-4388-AF26-55DA0E435FDD}" presName="pictRect" presStyleLbl="node1" presStyleIdx="0" presStyleCnt="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000" r="-2000"/>
          </a:stretch>
        </a:blipFill>
      </dgm:spPr>
    </dgm:pt>
    <dgm:pt modelId="{90A00FBD-CE6E-40BA-A999-900B1D0D5985}" type="pres">
      <dgm:prSet presAssocID="{8B2D0B81-1C18-4388-AF26-55DA0E435FDD}" presName="textRect" presStyleLbl="revTx" presStyleIdx="0" presStyleCnt="3">
        <dgm:presLayoutVars>
          <dgm:bulletEnabled val="1"/>
        </dgm:presLayoutVars>
      </dgm:prSet>
      <dgm:spPr/>
    </dgm:pt>
    <dgm:pt modelId="{FD32613B-43A9-479B-8CA1-7007FD438884}" type="pres">
      <dgm:prSet presAssocID="{FE140FA4-8A7F-45D1-9D69-E393C6416E28}" presName="sibTrans" presStyleLbl="sibTrans2D1" presStyleIdx="0" presStyleCnt="0"/>
      <dgm:spPr/>
    </dgm:pt>
    <dgm:pt modelId="{6420EC7C-98C6-47C4-89EF-23F45ED0DD42}" type="pres">
      <dgm:prSet presAssocID="{B24804C0-790B-47E3-B3EB-C1649686B004}" presName="compNode" presStyleCnt="0"/>
      <dgm:spPr/>
    </dgm:pt>
    <dgm:pt modelId="{150FA8A3-149C-4595-A79D-22F8DDA99804}" type="pres">
      <dgm:prSet presAssocID="{B24804C0-790B-47E3-B3EB-C1649686B004}" presName="pictRect" presStyleLbl="node1" presStyleIdx="1" presStyleCnt="3" custLinFactNeighborX="0" custLinFactNeighborY="124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E5A13A3A-98E6-428B-96CB-09C2297A2DE3}" type="pres">
      <dgm:prSet presAssocID="{B24804C0-790B-47E3-B3EB-C1649686B004}" presName="textRect" presStyleLbl="revTx" presStyleIdx="1" presStyleCnt="3">
        <dgm:presLayoutVars>
          <dgm:bulletEnabled val="1"/>
        </dgm:presLayoutVars>
      </dgm:prSet>
      <dgm:spPr/>
    </dgm:pt>
    <dgm:pt modelId="{3F91AEAE-F73D-4E94-8F04-E73E7C2F3CD7}" type="pres">
      <dgm:prSet presAssocID="{79F558E7-6321-44B5-BEC8-CB32847B1CB7}" presName="sibTrans" presStyleLbl="sibTrans2D1" presStyleIdx="0" presStyleCnt="0"/>
      <dgm:spPr/>
    </dgm:pt>
    <dgm:pt modelId="{57FE974F-0F91-48BB-ACB5-EC4D91C3BFB1}" type="pres">
      <dgm:prSet presAssocID="{E54FCE37-1A40-468C-9FED-B7502D491F58}" presName="compNode" presStyleCnt="0"/>
      <dgm:spPr/>
    </dgm:pt>
    <dgm:pt modelId="{33F3CFE8-128F-4AF1-BFD0-FE55ECCD81BB}" type="pres">
      <dgm:prSet presAssocID="{E54FCE37-1A40-468C-9FED-B7502D491F58}" presName="pict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</dgm:pt>
    <dgm:pt modelId="{612733AA-A6A3-4637-AD17-26F62879B812}" type="pres">
      <dgm:prSet presAssocID="{E54FCE37-1A40-468C-9FED-B7502D491F58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3D231218-D92D-43FC-AF35-9CC32ED4B682}" srcId="{6AB2A183-FEB1-4C3D-B1D6-CAD3B9B9CB25}" destId="{B24804C0-790B-47E3-B3EB-C1649686B004}" srcOrd="1" destOrd="0" parTransId="{ACBE324A-36C1-4D0F-83AA-72E3B62EA756}" sibTransId="{79F558E7-6321-44B5-BEC8-CB32847B1CB7}"/>
    <dgm:cxn modelId="{D27DD459-BFEF-4645-A36A-C214143B7BFD}" type="presOf" srcId="{E54FCE37-1A40-468C-9FED-B7502D491F58}" destId="{612733AA-A6A3-4637-AD17-26F62879B812}" srcOrd="0" destOrd="0" presId="urn:microsoft.com/office/officeart/2005/8/layout/pList1"/>
    <dgm:cxn modelId="{A8CBA79D-8335-41E1-9716-D9D9CCB772DA}" srcId="{6AB2A183-FEB1-4C3D-B1D6-CAD3B9B9CB25}" destId="{8B2D0B81-1C18-4388-AF26-55DA0E435FDD}" srcOrd="0" destOrd="0" parTransId="{9F5615D7-294E-49A7-9E78-BF7FE3CF6405}" sibTransId="{FE140FA4-8A7F-45D1-9D69-E393C6416E28}"/>
    <dgm:cxn modelId="{5E42379E-841D-4312-BE53-C43558473CBC}" srcId="{6AB2A183-FEB1-4C3D-B1D6-CAD3B9B9CB25}" destId="{E54FCE37-1A40-468C-9FED-B7502D491F58}" srcOrd="2" destOrd="0" parTransId="{705DA5BA-C21C-4E41-8DC9-07988483F42A}" sibTransId="{4E217F5A-0D67-484D-AE89-1A5DD9F3E78F}"/>
    <dgm:cxn modelId="{030443A2-E3BF-40DD-9240-74F40120934F}" type="presOf" srcId="{FE140FA4-8A7F-45D1-9D69-E393C6416E28}" destId="{FD32613B-43A9-479B-8CA1-7007FD438884}" srcOrd="0" destOrd="0" presId="urn:microsoft.com/office/officeart/2005/8/layout/pList1"/>
    <dgm:cxn modelId="{EDF7FABF-B056-465A-968D-82FA963251BF}" type="presOf" srcId="{6AB2A183-FEB1-4C3D-B1D6-CAD3B9B9CB25}" destId="{00CF1452-C298-4AA3-AA16-C7CF319B054B}" srcOrd="0" destOrd="0" presId="urn:microsoft.com/office/officeart/2005/8/layout/pList1"/>
    <dgm:cxn modelId="{410B65D6-9B4B-4BB5-B7DE-C722745DA3B2}" type="presOf" srcId="{79F558E7-6321-44B5-BEC8-CB32847B1CB7}" destId="{3F91AEAE-F73D-4E94-8F04-E73E7C2F3CD7}" srcOrd="0" destOrd="0" presId="urn:microsoft.com/office/officeart/2005/8/layout/pList1"/>
    <dgm:cxn modelId="{5626EEE5-BCCC-456F-8464-FEF7D5FC926C}" type="presOf" srcId="{B24804C0-790B-47E3-B3EB-C1649686B004}" destId="{E5A13A3A-98E6-428B-96CB-09C2297A2DE3}" srcOrd="0" destOrd="0" presId="urn:microsoft.com/office/officeart/2005/8/layout/pList1"/>
    <dgm:cxn modelId="{39C49DFF-411C-4972-B81C-12412D932AC7}" type="presOf" srcId="{8B2D0B81-1C18-4388-AF26-55DA0E435FDD}" destId="{90A00FBD-CE6E-40BA-A999-900B1D0D5985}" srcOrd="0" destOrd="0" presId="urn:microsoft.com/office/officeart/2005/8/layout/pList1"/>
    <dgm:cxn modelId="{515A39A3-35FF-430A-B9F9-D6792DC15F56}" type="presParOf" srcId="{00CF1452-C298-4AA3-AA16-C7CF319B054B}" destId="{EC32ADEA-E842-434F-9DDD-317A36FA7878}" srcOrd="0" destOrd="0" presId="urn:microsoft.com/office/officeart/2005/8/layout/pList1"/>
    <dgm:cxn modelId="{E8063A24-B783-4BFC-8B94-356A2486CE61}" type="presParOf" srcId="{EC32ADEA-E842-434F-9DDD-317A36FA7878}" destId="{0B754B8C-14FE-40F0-94D4-81C1CFE96537}" srcOrd="0" destOrd="0" presId="urn:microsoft.com/office/officeart/2005/8/layout/pList1"/>
    <dgm:cxn modelId="{2CC2B8EA-32C6-4386-BF73-85A449C4552D}" type="presParOf" srcId="{EC32ADEA-E842-434F-9DDD-317A36FA7878}" destId="{90A00FBD-CE6E-40BA-A999-900B1D0D5985}" srcOrd="1" destOrd="0" presId="urn:microsoft.com/office/officeart/2005/8/layout/pList1"/>
    <dgm:cxn modelId="{D918092B-70C7-4655-9E7F-D8224FD4A22D}" type="presParOf" srcId="{00CF1452-C298-4AA3-AA16-C7CF319B054B}" destId="{FD32613B-43A9-479B-8CA1-7007FD438884}" srcOrd="1" destOrd="0" presId="urn:microsoft.com/office/officeart/2005/8/layout/pList1"/>
    <dgm:cxn modelId="{D75FBFF1-1FB5-45B2-9E5F-34F10D9C73E8}" type="presParOf" srcId="{00CF1452-C298-4AA3-AA16-C7CF319B054B}" destId="{6420EC7C-98C6-47C4-89EF-23F45ED0DD42}" srcOrd="2" destOrd="0" presId="urn:microsoft.com/office/officeart/2005/8/layout/pList1"/>
    <dgm:cxn modelId="{3D3E7165-8A85-4B1E-89D5-2715BE8CE265}" type="presParOf" srcId="{6420EC7C-98C6-47C4-89EF-23F45ED0DD42}" destId="{150FA8A3-149C-4595-A79D-22F8DDA99804}" srcOrd="0" destOrd="0" presId="urn:microsoft.com/office/officeart/2005/8/layout/pList1"/>
    <dgm:cxn modelId="{69BD7E09-490E-490A-A31E-E974F9D5D9AC}" type="presParOf" srcId="{6420EC7C-98C6-47C4-89EF-23F45ED0DD42}" destId="{E5A13A3A-98E6-428B-96CB-09C2297A2DE3}" srcOrd="1" destOrd="0" presId="urn:microsoft.com/office/officeart/2005/8/layout/pList1"/>
    <dgm:cxn modelId="{0CA3D24C-1B57-43AB-8471-37FF011D787F}" type="presParOf" srcId="{00CF1452-C298-4AA3-AA16-C7CF319B054B}" destId="{3F91AEAE-F73D-4E94-8F04-E73E7C2F3CD7}" srcOrd="3" destOrd="0" presId="urn:microsoft.com/office/officeart/2005/8/layout/pList1"/>
    <dgm:cxn modelId="{29096DE0-EFE5-46AA-8A63-5766EF687ADC}" type="presParOf" srcId="{00CF1452-C298-4AA3-AA16-C7CF319B054B}" destId="{57FE974F-0F91-48BB-ACB5-EC4D91C3BFB1}" srcOrd="4" destOrd="0" presId="urn:microsoft.com/office/officeart/2005/8/layout/pList1"/>
    <dgm:cxn modelId="{DA3FCB31-9313-4981-8B9B-5D8EDAEF15B9}" type="presParOf" srcId="{57FE974F-0F91-48BB-ACB5-EC4D91C3BFB1}" destId="{33F3CFE8-128F-4AF1-BFD0-FE55ECCD81BB}" srcOrd="0" destOrd="0" presId="urn:microsoft.com/office/officeart/2005/8/layout/pList1"/>
    <dgm:cxn modelId="{25F958AC-50F6-4A44-906B-423153562824}" type="presParOf" srcId="{57FE974F-0F91-48BB-ACB5-EC4D91C3BFB1}" destId="{612733AA-A6A3-4637-AD17-26F62879B812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54B8C-14FE-40F0-94D4-81C1CFE96537}">
      <dsp:nvSpPr>
        <dsp:cNvPr id="0" name=""/>
        <dsp:cNvSpPr/>
      </dsp:nvSpPr>
      <dsp:spPr>
        <a:xfrm>
          <a:off x="1600" y="1363603"/>
          <a:ext cx="2538754" cy="1749202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00FBD-CE6E-40BA-A999-900B1D0D5985}">
      <dsp:nvSpPr>
        <dsp:cNvPr id="0" name=""/>
        <dsp:cNvSpPr/>
      </dsp:nvSpPr>
      <dsp:spPr>
        <a:xfrm>
          <a:off x="1600" y="3112805"/>
          <a:ext cx="2538754" cy="941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COMENZADORES</a:t>
          </a:r>
          <a:endParaRPr lang="es-PE" sz="2300" kern="1200" dirty="0"/>
        </a:p>
      </dsp:txBody>
      <dsp:txXfrm>
        <a:off x="1600" y="3112805"/>
        <a:ext cx="2538754" cy="941878"/>
      </dsp:txXfrm>
    </dsp:sp>
    <dsp:sp modelId="{150FA8A3-149C-4595-A79D-22F8DDA99804}">
      <dsp:nvSpPr>
        <dsp:cNvPr id="0" name=""/>
        <dsp:cNvSpPr/>
      </dsp:nvSpPr>
      <dsp:spPr>
        <a:xfrm>
          <a:off x="2794337" y="1385346"/>
          <a:ext cx="2538754" cy="1749202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13A3A-98E6-428B-96CB-09C2297A2DE3}">
      <dsp:nvSpPr>
        <dsp:cNvPr id="0" name=""/>
        <dsp:cNvSpPr/>
      </dsp:nvSpPr>
      <dsp:spPr>
        <a:xfrm>
          <a:off x="2794337" y="3112805"/>
          <a:ext cx="2538754" cy="941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OBSERVADORES</a:t>
          </a:r>
          <a:endParaRPr lang="es-PE" sz="2300" kern="1200" dirty="0"/>
        </a:p>
      </dsp:txBody>
      <dsp:txXfrm>
        <a:off x="2794337" y="3112805"/>
        <a:ext cx="2538754" cy="941878"/>
      </dsp:txXfrm>
    </dsp:sp>
    <dsp:sp modelId="{33F3CFE8-128F-4AF1-BFD0-FE55ECCD81BB}">
      <dsp:nvSpPr>
        <dsp:cNvPr id="0" name=""/>
        <dsp:cNvSpPr/>
      </dsp:nvSpPr>
      <dsp:spPr>
        <a:xfrm>
          <a:off x="5587074" y="1363603"/>
          <a:ext cx="2538754" cy="1749202"/>
        </a:xfrm>
        <a:prstGeom prst="round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733AA-A6A3-4637-AD17-26F62879B812}">
      <dsp:nvSpPr>
        <dsp:cNvPr id="0" name=""/>
        <dsp:cNvSpPr/>
      </dsp:nvSpPr>
      <dsp:spPr>
        <a:xfrm>
          <a:off x="5587074" y="3112805"/>
          <a:ext cx="2538754" cy="941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COMPLETADORES</a:t>
          </a:r>
          <a:endParaRPr lang="es-PE" sz="2300" kern="1200" dirty="0"/>
        </a:p>
      </dsp:txBody>
      <dsp:txXfrm>
        <a:off x="5587074" y="3112805"/>
        <a:ext cx="2538754" cy="941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2007A-3B23-4606-B1EB-FB0D5690D441}" type="datetimeFigureOut">
              <a:rPr lang="es-PE" smtClean="0"/>
              <a:t>13/02/2026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DBA04-A770-48F3-88EF-826137CA3D7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949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https://www.mercadonegro.pe/medios/digital/asi-como-netflix-segmenta-usuarios/#:~:text=%E2%80%9CComenzadores%E2%80%9D%2C%20%E2%80%9CObservadores%E2%80%9D%20y%20%E2%80%9CCompletadores%E2%80%9D%20son,abandonan%20a%20los%20pocos%20minutos.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CC259-01EB-465B-9B0D-B27AC2F01B5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384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0311-10ED-447B-9065-5F1F1C6725E0}" type="datetimeFigureOut">
              <a:rPr lang="es-PE" smtClean="0"/>
              <a:t>13/02/2026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635A-2B95-4095-B71E-58F2F758C8B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53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327" y="403788"/>
            <a:ext cx="11361308" cy="63708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2324" y="824306"/>
            <a:ext cx="9369425" cy="607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68727" y="1607566"/>
            <a:ext cx="7392670" cy="395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4E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microsoft.com/office/2007/relationships/hdphoto" Target="../media/hdphoto1.wdp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050" y="2526029"/>
            <a:ext cx="56159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4200" spc="-185" dirty="0">
                <a:solidFill>
                  <a:srgbClr val="FFFFFF"/>
                </a:solidFill>
                <a:latin typeface="Calibri"/>
                <a:cs typeface="Calibri"/>
              </a:rPr>
              <a:t>MACHINE LEARNING</a:t>
            </a:r>
            <a:endParaRPr sz="4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050" y="3170377"/>
            <a:ext cx="4886325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ECFF"/>
                </a:solidFill>
                <a:latin typeface="Calibri"/>
                <a:cs typeface="Calibri"/>
              </a:rPr>
              <a:t>Métodos</a:t>
            </a:r>
            <a:r>
              <a:rPr sz="3600" spc="-60" dirty="0">
                <a:solidFill>
                  <a:srgbClr val="00EC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ECFF"/>
                </a:solidFill>
                <a:latin typeface="Calibri"/>
                <a:cs typeface="Calibri"/>
              </a:rPr>
              <a:t>No</a:t>
            </a:r>
            <a:r>
              <a:rPr sz="3600" spc="-50" dirty="0">
                <a:solidFill>
                  <a:srgbClr val="00EC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0ECFF"/>
                </a:solidFill>
                <a:latin typeface="Calibri"/>
                <a:cs typeface="Calibri"/>
              </a:rPr>
              <a:t>Supervisados</a:t>
            </a:r>
            <a:endParaRPr sz="3600" dirty="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20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SESIÓN</a:t>
            </a:r>
            <a:r>
              <a:rPr sz="2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lang="es-MX" sz="2400" b="1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498" y="5988507"/>
            <a:ext cx="337190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PE" sz="2000" b="1" dirty="0">
                <a:solidFill>
                  <a:schemeClr val="bg1"/>
                </a:solidFill>
                <a:latin typeface="Geometria" panose="020B0403020204020204" pitchFamily="34" charset="0"/>
              </a:rPr>
              <a:t>Docente: César Quezada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DB186E0-979E-E35F-4DA6-DA93A3F2CD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FEC60E5B-7604-446F-8794-41AA6E4AFD6F}"/>
              </a:ext>
            </a:extLst>
          </p:cNvPr>
          <p:cNvSpPr/>
          <p:nvPr/>
        </p:nvSpPr>
        <p:spPr>
          <a:xfrm>
            <a:off x="428" y="2405541"/>
            <a:ext cx="12189219" cy="3814835"/>
          </a:xfrm>
          <a:custGeom>
            <a:avLst/>
            <a:gdLst/>
            <a:ahLst/>
            <a:cxnLst/>
            <a:rect l="l" t="t" r="r" b="b"/>
            <a:pathLst>
              <a:path w="20100925" h="6290945">
                <a:moveTo>
                  <a:pt x="19746655" y="0"/>
                </a:moveTo>
                <a:lnTo>
                  <a:pt x="354031" y="0"/>
                </a:lnTo>
                <a:lnTo>
                  <a:pt x="305991" y="3231"/>
                </a:lnTo>
                <a:lnTo>
                  <a:pt x="259916" y="12646"/>
                </a:lnTo>
                <a:lnTo>
                  <a:pt x="216227" y="27821"/>
                </a:lnTo>
                <a:lnTo>
                  <a:pt x="175346" y="48336"/>
                </a:lnTo>
                <a:lnTo>
                  <a:pt x="137694" y="73767"/>
                </a:lnTo>
                <a:lnTo>
                  <a:pt x="103694" y="103694"/>
                </a:lnTo>
                <a:lnTo>
                  <a:pt x="73767" y="137694"/>
                </a:lnTo>
                <a:lnTo>
                  <a:pt x="48336" y="175346"/>
                </a:lnTo>
                <a:lnTo>
                  <a:pt x="27821" y="216227"/>
                </a:lnTo>
                <a:lnTo>
                  <a:pt x="12646" y="259916"/>
                </a:lnTo>
                <a:lnTo>
                  <a:pt x="3231" y="305991"/>
                </a:lnTo>
                <a:lnTo>
                  <a:pt x="0" y="354031"/>
                </a:lnTo>
                <a:lnTo>
                  <a:pt x="0" y="5279305"/>
                </a:lnTo>
                <a:lnTo>
                  <a:pt x="3231" y="5327344"/>
                </a:lnTo>
                <a:lnTo>
                  <a:pt x="12646" y="5373419"/>
                </a:lnTo>
                <a:lnTo>
                  <a:pt x="27821" y="5417108"/>
                </a:lnTo>
                <a:lnTo>
                  <a:pt x="48336" y="5457990"/>
                </a:lnTo>
                <a:lnTo>
                  <a:pt x="73767" y="5495641"/>
                </a:lnTo>
                <a:lnTo>
                  <a:pt x="103694" y="5529641"/>
                </a:lnTo>
                <a:lnTo>
                  <a:pt x="137694" y="5559568"/>
                </a:lnTo>
                <a:lnTo>
                  <a:pt x="175346" y="5585000"/>
                </a:lnTo>
                <a:lnTo>
                  <a:pt x="216227" y="5605514"/>
                </a:lnTo>
                <a:lnTo>
                  <a:pt x="259916" y="5620689"/>
                </a:lnTo>
                <a:lnTo>
                  <a:pt x="305991" y="5630104"/>
                </a:lnTo>
                <a:lnTo>
                  <a:pt x="354031" y="5633336"/>
                </a:lnTo>
                <a:lnTo>
                  <a:pt x="19192169" y="5633336"/>
                </a:lnTo>
                <a:lnTo>
                  <a:pt x="19245308" y="5637211"/>
                </a:lnTo>
                <a:lnTo>
                  <a:pt x="19296925" y="5648638"/>
                </a:lnTo>
                <a:lnTo>
                  <a:pt x="19346237" y="5667323"/>
                </a:lnTo>
                <a:lnTo>
                  <a:pt x="19392463" y="5692969"/>
                </a:lnTo>
                <a:lnTo>
                  <a:pt x="19434821" y="5725281"/>
                </a:lnTo>
                <a:lnTo>
                  <a:pt x="19988742" y="6274342"/>
                </a:lnTo>
                <a:lnTo>
                  <a:pt x="20024561" y="6290850"/>
                </a:lnTo>
                <a:lnTo>
                  <a:pt x="20061005" y="6285317"/>
                </a:lnTo>
                <a:lnTo>
                  <a:pt x="20089304" y="6261693"/>
                </a:lnTo>
                <a:lnTo>
                  <a:pt x="20100686" y="6223925"/>
                </a:lnTo>
                <a:lnTo>
                  <a:pt x="20100686" y="354031"/>
                </a:lnTo>
                <a:lnTo>
                  <a:pt x="20097454" y="305991"/>
                </a:lnTo>
                <a:lnTo>
                  <a:pt x="20088039" y="259916"/>
                </a:lnTo>
                <a:lnTo>
                  <a:pt x="20072864" y="216227"/>
                </a:lnTo>
                <a:lnTo>
                  <a:pt x="20052350" y="175346"/>
                </a:lnTo>
                <a:lnTo>
                  <a:pt x="20026918" y="137694"/>
                </a:lnTo>
                <a:lnTo>
                  <a:pt x="19996991" y="103694"/>
                </a:lnTo>
                <a:lnTo>
                  <a:pt x="19962991" y="73767"/>
                </a:lnTo>
                <a:lnTo>
                  <a:pt x="19925340" y="48336"/>
                </a:lnTo>
                <a:lnTo>
                  <a:pt x="19884458" y="27821"/>
                </a:lnTo>
                <a:lnTo>
                  <a:pt x="19840769" y="12646"/>
                </a:lnTo>
                <a:lnTo>
                  <a:pt x="19794694" y="3231"/>
                </a:lnTo>
                <a:lnTo>
                  <a:pt x="197466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27B543B-D106-422D-8E16-0B012E7B97CA}"/>
              </a:ext>
            </a:extLst>
          </p:cNvPr>
          <p:cNvSpPr txBox="1">
            <a:spLocks/>
          </p:cNvSpPr>
          <p:nvPr/>
        </p:nvSpPr>
        <p:spPr>
          <a:xfrm>
            <a:off x="4110380" y="1674334"/>
            <a:ext cx="7655894" cy="514483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75" b="0" i="0" u="none" strike="noStrike" kern="1200" cap="none" spc="-24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César Manuel Quezada Balcazar</a:t>
            </a:r>
            <a:endParaRPr kumimoji="0" lang="es-ES" sz="3275" b="0" i="0" u="none" strike="noStrike" kern="1200" cap="none" spc="-24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6E92983-77F1-4B03-8336-0E8E6966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03" y="1586003"/>
            <a:ext cx="2279448" cy="32018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9C04451-CA54-4D3D-B7DA-4C7C0DEE7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663" y="5861799"/>
            <a:ext cx="1094198" cy="80338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E2FC001-2707-450A-927F-8081A9992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301" y="5985364"/>
            <a:ext cx="1094198" cy="68284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86CD855-C568-4E33-BD0B-436701EF1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597" y="6054350"/>
            <a:ext cx="1343925" cy="638234"/>
          </a:xfrm>
          <a:prstGeom prst="rect">
            <a:avLst/>
          </a:prstGeom>
        </p:spPr>
      </p:pic>
      <p:sp>
        <p:nvSpPr>
          <p:cNvPr id="16" name="object 7">
            <a:extLst>
              <a:ext uri="{FF2B5EF4-FFF2-40B4-BE49-F238E27FC236}">
                <a16:creationId xmlns:a16="http://schemas.microsoft.com/office/drawing/2014/main" id="{28617ED1-A5C5-4AEE-9637-7B016827DF07}"/>
              </a:ext>
            </a:extLst>
          </p:cNvPr>
          <p:cNvSpPr txBox="1"/>
          <p:nvPr/>
        </p:nvSpPr>
        <p:spPr>
          <a:xfrm>
            <a:off x="496699" y="4871967"/>
            <a:ext cx="3420686" cy="66045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lvl="0" indent="0" algn="ctr" defTabSz="914400" rtl="0" eaLnBrk="1" fontAlgn="auto" latinLnBrk="0" hangingPunct="1">
              <a:lnSpc>
                <a:spcPct val="1196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19" b="1" i="0" u="none" strike="noStrike" kern="1200" cap="none" spc="-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</a:rPr>
              <a:t>Científico de Datos Sr.</a:t>
            </a:r>
          </a:p>
          <a:p>
            <a:pPr marL="7701" marR="3081" lvl="0" indent="0" algn="ctr" defTabSz="914400" rtl="0" eaLnBrk="1" fontAlgn="auto" latinLnBrk="0" hangingPunct="1">
              <a:lnSpc>
                <a:spcPct val="1196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19" spc="-115" dirty="0">
                <a:solidFill>
                  <a:prstClr val="black"/>
                </a:solidFill>
                <a:latin typeface="Microsoft Sans Serif"/>
                <a:cs typeface="Microsoft Sans Serif"/>
              </a:rPr>
              <a:t>Clínica Internacional</a:t>
            </a:r>
            <a:endParaRPr kumimoji="0" lang="es-ES" sz="1819" b="0" i="0" u="none" strike="noStrike" kern="1200" cap="none" spc="-11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3F7408D-04E3-4F2E-A25C-3865458B0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184" y="6032003"/>
            <a:ext cx="1487189" cy="496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60A8075-17B9-4918-86F4-A99116A340C4}"/>
              </a:ext>
            </a:extLst>
          </p:cNvPr>
          <p:cNvSpPr txBox="1"/>
          <p:nvPr/>
        </p:nvSpPr>
        <p:spPr>
          <a:xfrm>
            <a:off x="507979" y="1064609"/>
            <a:ext cx="340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PERFIL PROFESIONAL</a:t>
            </a: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1B8D83C-97A0-40DF-84CB-82808715E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4237" y="6070973"/>
            <a:ext cx="1331848" cy="511625"/>
          </a:xfrm>
          <a:prstGeom prst="rect">
            <a:avLst/>
          </a:prstGeom>
        </p:spPr>
      </p:pic>
      <p:sp>
        <p:nvSpPr>
          <p:cNvPr id="21" name="object 7">
            <a:extLst>
              <a:ext uri="{FF2B5EF4-FFF2-40B4-BE49-F238E27FC236}">
                <a16:creationId xmlns:a16="http://schemas.microsoft.com/office/drawing/2014/main" id="{5BBE7669-B8F9-42F1-BEFD-B5D33E079E1E}"/>
              </a:ext>
            </a:extLst>
          </p:cNvPr>
          <p:cNvSpPr txBox="1"/>
          <p:nvPr/>
        </p:nvSpPr>
        <p:spPr>
          <a:xfrm>
            <a:off x="5060797" y="2814270"/>
            <a:ext cx="6191838" cy="2740127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r>
              <a:rPr lang="es-MX" sz="1819" spc="-115" dirty="0">
                <a:latin typeface="Microsoft Sans Serif"/>
                <a:cs typeface="Microsoft Sans Serif"/>
              </a:rPr>
              <a:t>+ 13 años de experiencia en proyectos de inteligencia artificial en la industria de Marketing, Investigación, Telecomunicaciones y Agro</a:t>
            </a:r>
          </a:p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endParaRPr lang="es-MX" sz="1819" spc="-115" dirty="0">
              <a:latin typeface="Microsoft Sans Serif"/>
              <a:cs typeface="Microsoft Sans Serif"/>
            </a:endParaRPr>
          </a:p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r>
              <a:rPr lang="es-MX" sz="1819" spc="-115" dirty="0">
                <a:latin typeface="Microsoft Sans Serif"/>
                <a:cs typeface="Microsoft Sans Serif"/>
              </a:rPr>
              <a:t>Ingeniería de datos - SDC </a:t>
            </a:r>
          </a:p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r>
              <a:rPr lang="es-MX" sz="1819" spc="-115" dirty="0">
                <a:latin typeface="Microsoft Sans Serif"/>
                <a:cs typeface="Microsoft Sans Serif"/>
              </a:rPr>
              <a:t>Machine </a:t>
            </a:r>
            <a:r>
              <a:rPr lang="es-MX" sz="1819" spc="-115" dirty="0" err="1">
                <a:latin typeface="Microsoft Sans Serif"/>
                <a:cs typeface="Microsoft Sans Serif"/>
              </a:rPr>
              <a:t>Learning</a:t>
            </a:r>
            <a:r>
              <a:rPr lang="es-MX" sz="1819" spc="-115" dirty="0">
                <a:latin typeface="Microsoft Sans Serif"/>
                <a:cs typeface="Microsoft Sans Serif"/>
              </a:rPr>
              <a:t> – Stanford </a:t>
            </a:r>
            <a:r>
              <a:rPr lang="es-MX" sz="1819" spc="-115" dirty="0" err="1">
                <a:latin typeface="Microsoft Sans Serif"/>
                <a:cs typeface="Microsoft Sans Serif"/>
              </a:rPr>
              <a:t>University</a:t>
            </a:r>
            <a:r>
              <a:rPr lang="es-MX" sz="1819" spc="-115" dirty="0">
                <a:latin typeface="Microsoft Sans Serif"/>
                <a:cs typeface="Microsoft Sans Serif"/>
              </a:rPr>
              <a:t>.</a:t>
            </a:r>
          </a:p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r>
              <a:rPr lang="es-MX" sz="1819" spc="-115" dirty="0">
                <a:latin typeface="Microsoft Sans Serif"/>
                <a:cs typeface="Microsoft Sans Serif"/>
              </a:rPr>
              <a:t> Big Data </a:t>
            </a:r>
            <a:r>
              <a:rPr lang="es-MX" sz="1819" spc="-115" dirty="0" err="1">
                <a:latin typeface="Microsoft Sans Serif"/>
                <a:cs typeface="Microsoft Sans Serif"/>
              </a:rPr>
              <a:t>Science</a:t>
            </a:r>
            <a:r>
              <a:rPr lang="es-MX" sz="1819" spc="-115" dirty="0">
                <a:latin typeface="Microsoft Sans Serif"/>
                <a:cs typeface="Microsoft Sans Serif"/>
              </a:rPr>
              <a:t> – DMC</a:t>
            </a:r>
          </a:p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r>
              <a:rPr lang="es-MX" sz="1819" spc="-115" dirty="0">
                <a:latin typeface="Microsoft Sans Serif"/>
                <a:cs typeface="Microsoft Sans Serif"/>
              </a:rPr>
              <a:t>Gestión de proyectos – UTP</a:t>
            </a:r>
          </a:p>
          <a:p>
            <a:pPr marL="284947" marR="3081" indent="-277246">
              <a:lnSpc>
                <a:spcPct val="119600"/>
              </a:lnSpc>
              <a:spcBef>
                <a:spcPts val="61"/>
              </a:spcBef>
              <a:buFont typeface="Wingdings" panose="05000000000000000000" pitchFamily="2" charset="2"/>
              <a:buChar char="ü"/>
            </a:pPr>
            <a:r>
              <a:rPr lang="es-MX" sz="1819" spc="-115" dirty="0">
                <a:latin typeface="Microsoft Sans Serif"/>
                <a:cs typeface="Microsoft Sans Serif"/>
              </a:rPr>
              <a:t>Ingeniero Estadístico – UNI.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DB146A-3C63-4CA9-B58F-09167E9FF9A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09" t="1" r="6679" b="2758"/>
          <a:stretch/>
        </p:blipFill>
        <p:spPr>
          <a:xfrm>
            <a:off x="1356645" y="5825397"/>
            <a:ext cx="2064954" cy="78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7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0" y="-23205"/>
            <a:ext cx="12280728" cy="6858000"/>
            <a:chOff x="-88728" y="-1875"/>
            <a:chExt cx="12280728" cy="6858000"/>
          </a:xfrm>
        </p:grpSpPr>
        <p:pic>
          <p:nvPicPr>
            <p:cNvPr id="2" name="Google Shape;50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flipH="1">
              <a:off x="-88728" y="-1875"/>
              <a:ext cx="6595240" cy="6858000"/>
            </a:xfrm>
            <a:prstGeom prst="rect">
              <a:avLst/>
            </a:prstGeom>
            <a:blipFill rotWithShape="1">
              <a:blip r:embed="rId2">
                <a:alphaModFix amt="9000"/>
              </a:blip>
              <a:stretch>
                <a:fillRect/>
              </a:stretch>
            </a:blipFill>
            <a:ln>
              <a:noFill/>
            </a:ln>
          </p:spPr>
        </p:pic>
        <p:pic>
          <p:nvPicPr>
            <p:cNvPr id="3" name="Google Shape;50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flipH="1">
              <a:off x="2188307" y="-1875"/>
              <a:ext cx="6595240" cy="6858000"/>
            </a:xfrm>
            <a:prstGeom prst="rect">
              <a:avLst/>
            </a:prstGeom>
            <a:blipFill rotWithShape="1">
              <a:blip r:embed="rId2">
                <a:alphaModFix amt="9000"/>
              </a:blip>
              <a:stretch>
                <a:fillRect/>
              </a:stretch>
            </a:blipFill>
            <a:ln>
              <a:noFill/>
            </a:ln>
          </p:spPr>
        </p:pic>
        <p:pic>
          <p:nvPicPr>
            <p:cNvPr id="4" name="Google Shape;50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flipH="1">
              <a:off x="4465342" y="-1875"/>
              <a:ext cx="6595240" cy="6858000"/>
            </a:xfrm>
            <a:prstGeom prst="rect">
              <a:avLst/>
            </a:prstGeom>
            <a:blipFill rotWithShape="1">
              <a:blip r:embed="rId2">
                <a:alphaModFix amt="9000"/>
              </a:blip>
              <a:stretch>
                <a:fillRect/>
              </a:stretch>
            </a:blipFill>
            <a:ln>
              <a:noFill/>
            </a:ln>
          </p:spPr>
        </p:pic>
        <p:pic>
          <p:nvPicPr>
            <p:cNvPr id="5" name="Google Shape;50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flipH="1">
              <a:off x="5596760" y="-1875"/>
              <a:ext cx="6595240" cy="6858000"/>
            </a:xfrm>
            <a:prstGeom prst="rect">
              <a:avLst/>
            </a:prstGeom>
            <a:blipFill rotWithShape="1">
              <a:blip r:embed="rId2">
                <a:alphaModFix amt="9000"/>
              </a:blip>
              <a:stretch>
                <a:fillRect/>
              </a:stretch>
            </a:blipFill>
            <a:ln>
              <a:noFill/>
            </a:ln>
          </p:spPr>
        </p:pic>
      </p:grpSp>
      <p:sp>
        <p:nvSpPr>
          <p:cNvPr id="7" name="Título 1"/>
          <p:cNvSpPr txBox="1">
            <a:spLocks/>
          </p:cNvSpPr>
          <p:nvPr/>
        </p:nvSpPr>
        <p:spPr>
          <a:xfrm>
            <a:off x="1042690" y="371044"/>
            <a:ext cx="9951720" cy="12911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metria" panose="020B0503020204020204" pitchFamily="34" charset="0"/>
                <a:ea typeface="+mj-ea"/>
                <a:cs typeface="+mj-cs"/>
              </a:rPr>
              <a:t>César Quezada</a:t>
            </a:r>
          </a:p>
        </p:txBody>
      </p:sp>
      <p:sp>
        <p:nvSpPr>
          <p:cNvPr id="8" name="Shape 76"/>
          <p:cNvSpPr txBox="1">
            <a:spLocks/>
          </p:cNvSpPr>
          <p:nvPr/>
        </p:nvSpPr>
        <p:spPr>
          <a:xfrm>
            <a:off x="4420627" y="2110244"/>
            <a:ext cx="5885698" cy="415782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 puedes encontrar como: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		</a:t>
            </a:r>
            <a:r>
              <a:rPr kumimoji="0" lang="es-PE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esar</a:t>
            </a:r>
            <a:r>
              <a:rPr lang="e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mqb@gmail.com</a:t>
            </a: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	[</a:t>
            </a:r>
            <a:r>
              <a:rPr kumimoji="0" lang="es-PE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www.linkedin.com/in/cquezadab</a:t>
            </a:r>
            <a:r>
              <a:rPr kumimoji="0" lang="es-PE" sz="200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	[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https://cesarquezadab.com]</a:t>
            </a: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	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	[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Data-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Science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-Files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	[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https://github.com/cesarqb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[cesar.quezada19]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540" y="2715898"/>
            <a:ext cx="1885246" cy="264814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00" b="96000" l="4889" r="94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941" y="4478757"/>
            <a:ext cx="558200" cy="55820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84" b="89868" l="2703" r="9774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959" y="2846442"/>
            <a:ext cx="551434" cy="596161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183" y="3491573"/>
            <a:ext cx="442939" cy="402001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4130" y="5692903"/>
            <a:ext cx="485450" cy="465431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7917" y="5085927"/>
            <a:ext cx="493588" cy="497244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6183" y="3996098"/>
            <a:ext cx="483596" cy="47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6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961" y="2367788"/>
            <a:ext cx="5093335" cy="314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100"/>
              </a:spcBef>
              <a:buClr>
                <a:srgbClr val="2C3943"/>
              </a:buClr>
              <a:buFont typeface="Arial MT"/>
              <a:buAutoNum type="arabicPeriod"/>
              <a:tabLst>
                <a:tab pos="314960" algn="l"/>
              </a:tabLst>
            </a:pP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Agrupamiento</a:t>
            </a:r>
            <a:r>
              <a:rPr sz="2400" spc="-120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3943"/>
                </a:solidFill>
                <a:latin typeface="Arial MT"/>
                <a:cs typeface="Arial MT"/>
              </a:rPr>
              <a:t>basado</a:t>
            </a:r>
            <a:r>
              <a:rPr sz="2400" spc="-100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3943"/>
                </a:solidFill>
                <a:latin typeface="Arial MT"/>
                <a:cs typeface="Arial MT"/>
              </a:rPr>
              <a:t>en</a:t>
            </a:r>
            <a:r>
              <a:rPr sz="2400" spc="-95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Densidad</a:t>
            </a:r>
            <a:endParaRPr sz="2400">
              <a:latin typeface="Arial MT"/>
              <a:cs typeface="Arial MT"/>
            </a:endParaRPr>
          </a:p>
          <a:p>
            <a:pPr marL="314960" indent="-302260">
              <a:lnSpc>
                <a:spcPct val="100000"/>
              </a:lnSpc>
              <a:spcBef>
                <a:spcPts val="2540"/>
              </a:spcBef>
              <a:buAutoNum type="arabicPeriod"/>
              <a:tabLst>
                <a:tab pos="314960" algn="l"/>
              </a:tabLst>
            </a:pP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Segmentación</a:t>
            </a:r>
            <a:r>
              <a:rPr sz="2400" spc="-114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DBSCAN</a:t>
            </a:r>
            <a:endParaRPr sz="2400">
              <a:latin typeface="Arial MT"/>
              <a:cs typeface="Arial MT"/>
            </a:endParaRPr>
          </a:p>
          <a:p>
            <a:pPr marL="653415" lvl="1" indent="-183515">
              <a:lnSpc>
                <a:spcPct val="100000"/>
              </a:lnSpc>
              <a:spcBef>
                <a:spcPts val="2535"/>
              </a:spcBef>
              <a:buChar char="-"/>
              <a:tabLst>
                <a:tab pos="653415" algn="l"/>
              </a:tabLst>
            </a:pP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Metodología</a:t>
            </a:r>
            <a:endParaRPr sz="2400">
              <a:latin typeface="Arial MT"/>
              <a:cs typeface="Arial MT"/>
            </a:endParaRPr>
          </a:p>
          <a:p>
            <a:pPr marL="653415" lvl="1" indent="-183515">
              <a:lnSpc>
                <a:spcPct val="100000"/>
              </a:lnSpc>
              <a:spcBef>
                <a:spcPts val="2545"/>
              </a:spcBef>
              <a:buChar char="-"/>
              <a:tabLst>
                <a:tab pos="653415" algn="l"/>
              </a:tabLst>
            </a:pPr>
            <a:r>
              <a:rPr sz="2400" dirty="0">
                <a:solidFill>
                  <a:srgbClr val="2C3943"/>
                </a:solidFill>
                <a:latin typeface="Arial MT"/>
                <a:cs typeface="Arial MT"/>
              </a:rPr>
              <a:t>Perfil</a:t>
            </a:r>
            <a:r>
              <a:rPr sz="2400" spc="-60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3943"/>
                </a:solidFill>
                <a:latin typeface="Arial MT"/>
                <a:cs typeface="Arial MT"/>
              </a:rPr>
              <a:t>de</a:t>
            </a:r>
            <a:r>
              <a:rPr sz="2400" spc="-60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segmento</a:t>
            </a:r>
            <a:endParaRPr sz="2400">
              <a:latin typeface="Arial MT"/>
              <a:cs typeface="Arial MT"/>
            </a:endParaRPr>
          </a:p>
          <a:p>
            <a:pPr marL="653415" lvl="1" indent="-183515">
              <a:lnSpc>
                <a:spcPct val="100000"/>
              </a:lnSpc>
              <a:spcBef>
                <a:spcPts val="2545"/>
              </a:spcBef>
              <a:buChar char="-"/>
              <a:tabLst>
                <a:tab pos="653415" algn="l"/>
              </a:tabLst>
            </a:pPr>
            <a:r>
              <a:rPr sz="2400" dirty="0">
                <a:solidFill>
                  <a:srgbClr val="2C3943"/>
                </a:solidFill>
                <a:latin typeface="Arial MT"/>
                <a:cs typeface="Arial MT"/>
              </a:rPr>
              <a:t>Caso</a:t>
            </a:r>
            <a:r>
              <a:rPr sz="2400" spc="-90" dirty="0">
                <a:solidFill>
                  <a:srgbClr val="2C394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3943"/>
                </a:solidFill>
                <a:latin typeface="Arial MT"/>
                <a:cs typeface="Arial MT"/>
              </a:rPr>
              <a:t>práctico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2770" y="1479931"/>
            <a:ext cx="15633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8FF9"/>
                </a:solidFill>
              </a:rPr>
              <a:t>AGENDA: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7"/>
          <p:cNvSpPr txBox="1">
            <a:spLocks noGrp="1"/>
          </p:cNvSpPr>
          <p:nvPr>
            <p:ph type="title"/>
          </p:nvPr>
        </p:nvSpPr>
        <p:spPr>
          <a:xfrm>
            <a:off x="1808609" y="1096610"/>
            <a:ext cx="7208111" cy="51448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lang="es-PE" sz="3275" spc="-240" dirty="0">
                <a:solidFill>
                  <a:srgbClr val="DB7F2B"/>
                </a:solidFill>
              </a:rPr>
              <a:t>MODELOS NO SUPERVISADOS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EDDFC187-F18A-49B5-925D-C242098A6F74}"/>
              </a:ext>
            </a:extLst>
          </p:cNvPr>
          <p:cNvSpPr txBox="1"/>
          <p:nvPr/>
        </p:nvSpPr>
        <p:spPr>
          <a:xfrm>
            <a:off x="826601" y="1748616"/>
            <a:ext cx="8416342" cy="41301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>
              <a:lnSpc>
                <a:spcPct val="119600"/>
              </a:lnSpc>
              <a:spcBef>
                <a:spcPts val="61"/>
              </a:spcBef>
            </a:pPr>
            <a:r>
              <a:rPr lang="es-MX" sz="2426" spc="-115" dirty="0">
                <a:latin typeface="Microsoft Sans Serif"/>
                <a:cs typeface="Microsoft Sans Serif"/>
              </a:rPr>
              <a:t>..Netflix personaliza las imágenes de presentación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4E8C470-4C66-4098-8EEF-4A0203B6B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174" y="2309109"/>
            <a:ext cx="7496002" cy="433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2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7"/>
          <p:cNvSpPr txBox="1">
            <a:spLocks noGrp="1"/>
          </p:cNvSpPr>
          <p:nvPr>
            <p:ph type="title"/>
          </p:nvPr>
        </p:nvSpPr>
        <p:spPr>
          <a:xfrm>
            <a:off x="1808609" y="1096610"/>
            <a:ext cx="7208111" cy="514483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lang="es-PE" sz="3275" spc="-240" dirty="0">
                <a:solidFill>
                  <a:srgbClr val="DB7F2B"/>
                </a:solidFill>
              </a:rPr>
              <a:t>MODELOS NO SUPERVISADOS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EDDFC187-F18A-49B5-925D-C242098A6F74}"/>
              </a:ext>
            </a:extLst>
          </p:cNvPr>
          <p:cNvSpPr txBox="1"/>
          <p:nvPr/>
        </p:nvSpPr>
        <p:spPr>
          <a:xfrm>
            <a:off x="826601" y="1748616"/>
            <a:ext cx="8416342" cy="41301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>
              <a:lnSpc>
                <a:spcPct val="119600"/>
              </a:lnSpc>
              <a:spcBef>
                <a:spcPts val="61"/>
              </a:spcBef>
            </a:pPr>
            <a:r>
              <a:rPr lang="es-MX" sz="2426" spc="-115" dirty="0">
                <a:latin typeface="Microsoft Sans Serif"/>
                <a:cs typeface="Microsoft Sans Serif"/>
              </a:rPr>
              <a:t>..Netflix personaliza las imágenes de presentación 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646F832-1A38-4B0A-9BBD-57E74BC0CAD3}"/>
              </a:ext>
            </a:extLst>
          </p:cNvPr>
          <p:cNvGraphicFramePr/>
          <p:nvPr/>
        </p:nvGraphicFramePr>
        <p:xfrm>
          <a:off x="531434" y="1257236"/>
          <a:ext cx="8127429" cy="5418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object 7">
            <a:extLst>
              <a:ext uri="{FF2B5EF4-FFF2-40B4-BE49-F238E27FC236}">
                <a16:creationId xmlns:a16="http://schemas.microsoft.com/office/drawing/2014/main" id="{D9C51E99-E2EB-4380-9761-FCCD040D3E48}"/>
              </a:ext>
            </a:extLst>
          </p:cNvPr>
          <p:cNvSpPr txBox="1"/>
          <p:nvPr/>
        </p:nvSpPr>
        <p:spPr>
          <a:xfrm>
            <a:off x="824083" y="5367181"/>
            <a:ext cx="2078504" cy="78818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algn="ctr">
              <a:lnSpc>
                <a:spcPct val="119600"/>
              </a:lnSpc>
              <a:spcBef>
                <a:spcPts val="61"/>
              </a:spcBef>
            </a:pPr>
            <a:r>
              <a:rPr lang="es-MX" sz="1455" spc="-115" dirty="0">
                <a:latin typeface="Microsoft Sans Serif"/>
                <a:cs typeface="Microsoft Sans Serif"/>
              </a:rPr>
              <a:t>usuarios que ven dos minutos de una película o episodio de una serie.</a:t>
            </a:r>
            <a:endParaRPr lang="es-ES" sz="1455" spc="-115" dirty="0">
              <a:latin typeface="Microsoft Sans Serif"/>
              <a:cs typeface="Microsoft Sans Serif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0FAE067B-457B-40A6-A72E-2211AB29BFE7}"/>
              </a:ext>
            </a:extLst>
          </p:cNvPr>
          <p:cNvSpPr txBox="1"/>
          <p:nvPr/>
        </p:nvSpPr>
        <p:spPr>
          <a:xfrm>
            <a:off x="3555896" y="5367181"/>
            <a:ext cx="2078504" cy="78818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algn="ctr">
              <a:lnSpc>
                <a:spcPct val="119600"/>
              </a:lnSpc>
              <a:spcBef>
                <a:spcPts val="61"/>
              </a:spcBef>
            </a:pPr>
            <a:r>
              <a:rPr lang="es-MX" sz="1455" spc="-115" dirty="0">
                <a:latin typeface="Microsoft Sans Serif"/>
                <a:cs typeface="Microsoft Sans Serif"/>
              </a:rPr>
              <a:t>usuarios que ven al menos un 70% de una película o una serie.</a:t>
            </a:r>
            <a:endParaRPr lang="es-ES" sz="1455" spc="-115" dirty="0">
              <a:latin typeface="Microsoft Sans Serif"/>
              <a:cs typeface="Microsoft Sans Serif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86FFE96D-FA37-4230-9D05-744C14B53B76}"/>
              </a:ext>
            </a:extLst>
          </p:cNvPr>
          <p:cNvSpPr txBox="1"/>
          <p:nvPr/>
        </p:nvSpPr>
        <p:spPr>
          <a:xfrm>
            <a:off x="6287709" y="5367181"/>
            <a:ext cx="2078504" cy="78818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algn="ctr">
              <a:lnSpc>
                <a:spcPct val="119600"/>
              </a:lnSpc>
              <a:spcBef>
                <a:spcPts val="61"/>
              </a:spcBef>
            </a:pPr>
            <a:r>
              <a:rPr lang="es-MX" sz="1455" spc="-115" dirty="0">
                <a:latin typeface="Microsoft Sans Serif"/>
                <a:cs typeface="Microsoft Sans Serif"/>
              </a:rPr>
              <a:t>son los espectadores que ven al menos el 90% de una película o una serie.</a:t>
            </a:r>
            <a:endParaRPr lang="es-ES" sz="1455" spc="-115" dirty="0">
              <a:latin typeface="Microsoft Sans Serif"/>
              <a:cs typeface="Microsoft Sans Serif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96F26F4-2433-41F1-A876-81D842BB75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8862" y="2551053"/>
            <a:ext cx="3074858" cy="309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0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6903" y="2824988"/>
            <a:ext cx="4892675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076325" marR="5080" indent="-1064260">
              <a:lnSpc>
                <a:spcPts val="4750"/>
              </a:lnSpc>
              <a:spcBef>
                <a:spcPts val="705"/>
              </a:spcBef>
            </a:pPr>
            <a:r>
              <a:rPr sz="4400" spc="-45" dirty="0">
                <a:solidFill>
                  <a:srgbClr val="00AFEF"/>
                </a:solidFill>
                <a:latin typeface="Calibri Light"/>
                <a:cs typeface="Calibri Light"/>
              </a:rPr>
              <a:t>Agrupamiento</a:t>
            </a:r>
            <a:r>
              <a:rPr sz="4400" spc="-17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00AFEF"/>
                </a:solidFill>
                <a:latin typeface="Calibri Light"/>
                <a:cs typeface="Calibri Light"/>
              </a:rPr>
              <a:t>basado </a:t>
            </a:r>
            <a:r>
              <a:rPr sz="4400" dirty="0">
                <a:solidFill>
                  <a:srgbClr val="00AFEF"/>
                </a:solidFill>
                <a:latin typeface="Calibri Light"/>
                <a:cs typeface="Calibri Light"/>
              </a:rPr>
              <a:t>en</a:t>
            </a:r>
            <a:r>
              <a:rPr sz="4400" spc="-114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AFEF"/>
                </a:solidFill>
                <a:latin typeface="Calibri Light"/>
                <a:cs typeface="Calibri Light"/>
              </a:rPr>
              <a:t>Densidad</a:t>
            </a:r>
            <a:endParaRPr sz="4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412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95"/>
              </a:spcBef>
            </a:pPr>
            <a:r>
              <a:rPr sz="3100" spc="-30" dirty="0">
                <a:solidFill>
                  <a:srgbClr val="00AFEF"/>
                </a:solidFill>
                <a:latin typeface="Calibri Light"/>
                <a:cs typeface="Calibri Light"/>
              </a:rPr>
              <a:t>Características</a:t>
            </a:r>
            <a:endParaRPr sz="31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8785" y="1855470"/>
            <a:ext cx="8233409" cy="392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Los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métodos</a:t>
            </a:r>
            <a:r>
              <a:rPr sz="2400" spc="-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basados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distancia</a:t>
            </a:r>
            <a:r>
              <a:rPr sz="24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tienden</a:t>
            </a:r>
            <a:r>
              <a:rPr sz="24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funcionar</a:t>
            </a:r>
            <a:r>
              <a:rPr sz="2400" spc="-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bien</a:t>
            </a:r>
            <a:r>
              <a:rPr sz="24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con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clusteres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esféricos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y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mal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con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clusteres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otras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formas.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Clr>
                <a:srgbClr val="1F4E79"/>
              </a:buClr>
              <a:buFont typeface="Wingdings"/>
              <a:buChar char=""/>
            </a:pPr>
            <a:endParaRPr sz="240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Para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solucionar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este</a:t>
            </a:r>
            <a:r>
              <a:rPr sz="2400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problema,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otros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métodos</a:t>
            </a:r>
            <a:r>
              <a:rPr sz="2400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han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desarrollado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400" spc="3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concepto</a:t>
            </a:r>
            <a:r>
              <a:rPr sz="2400" spc="3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3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E79"/>
                </a:solidFill>
                <a:latin typeface="Calibri"/>
                <a:cs typeface="Calibri"/>
              </a:rPr>
              <a:t>densidad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,</a:t>
            </a:r>
            <a:r>
              <a:rPr sz="2400" spc="3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400" spc="3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cual</a:t>
            </a:r>
            <a:r>
              <a:rPr sz="2400" spc="3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permite</a:t>
            </a:r>
            <a:r>
              <a:rPr sz="2400" spc="3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descubrir</a:t>
            </a:r>
            <a:r>
              <a:rPr sz="2400" spc="3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clusteres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con</a:t>
            </a:r>
            <a:r>
              <a:rPr sz="2400" spc="1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1F4E79"/>
                </a:solidFill>
                <a:latin typeface="Calibri"/>
                <a:cs typeface="Calibri"/>
              </a:rPr>
              <a:t>formas</a:t>
            </a:r>
            <a:r>
              <a:rPr sz="2400" b="1" i="1" spc="1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1F4E79"/>
                </a:solidFill>
                <a:latin typeface="Calibri"/>
                <a:cs typeface="Calibri"/>
              </a:rPr>
              <a:t>arbitrarias</a:t>
            </a:r>
            <a:r>
              <a:rPr sz="2400" b="1" i="1" spc="1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(conjunto</a:t>
            </a:r>
            <a:r>
              <a:rPr sz="2400" spc="1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1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datos</a:t>
            </a:r>
            <a:r>
              <a:rPr sz="2400" spc="1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que</a:t>
            </a:r>
            <a:r>
              <a:rPr sz="2400" spc="1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determinan</a:t>
            </a:r>
            <a:r>
              <a:rPr sz="2400" spc="1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un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volúmen).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Clr>
                <a:srgbClr val="1F4E79"/>
              </a:buClr>
              <a:buFont typeface="Wingdings"/>
              <a:buChar char=""/>
            </a:pPr>
            <a:endParaRPr sz="24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idea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es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hacer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crecer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cluster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siempre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y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cuando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</a:t>
            </a:r>
            <a:r>
              <a:rPr sz="24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densidad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entorno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exceda</a:t>
            </a:r>
            <a:r>
              <a:rPr sz="2400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1F4E79"/>
                </a:solidFill>
                <a:latin typeface="Calibri"/>
                <a:cs typeface="Calibri"/>
              </a:rPr>
              <a:t>umbral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27" y="403788"/>
            <a:ext cx="11361420" cy="6370955"/>
            <a:chOff x="300327" y="403788"/>
            <a:chExt cx="11361420" cy="6370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4404" y="2021585"/>
              <a:ext cx="3297174" cy="30507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19706" y="2016887"/>
              <a:ext cx="3307079" cy="3060700"/>
            </a:xfrm>
            <a:custGeom>
              <a:avLst/>
              <a:gdLst/>
              <a:ahLst/>
              <a:cxnLst/>
              <a:rect l="l" t="t" r="r" b="b"/>
              <a:pathLst>
                <a:path w="3307079" h="3060700">
                  <a:moveTo>
                    <a:pt x="0" y="3060319"/>
                  </a:moveTo>
                  <a:lnTo>
                    <a:pt x="3306699" y="3060319"/>
                  </a:lnTo>
                  <a:lnTo>
                    <a:pt x="3306699" y="0"/>
                  </a:lnTo>
                  <a:lnTo>
                    <a:pt x="0" y="0"/>
                  </a:lnTo>
                  <a:lnTo>
                    <a:pt x="0" y="306031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9" y="2021713"/>
              <a:ext cx="3297174" cy="31677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29500" y="2016887"/>
              <a:ext cx="3307079" cy="3177540"/>
            </a:xfrm>
            <a:custGeom>
              <a:avLst/>
              <a:gdLst/>
              <a:ahLst/>
              <a:cxnLst/>
              <a:rect l="l" t="t" r="r" b="b"/>
              <a:pathLst>
                <a:path w="3307079" h="3177540">
                  <a:moveTo>
                    <a:pt x="0" y="3177286"/>
                  </a:moveTo>
                  <a:lnTo>
                    <a:pt x="3306699" y="3177286"/>
                  </a:lnTo>
                  <a:lnTo>
                    <a:pt x="3306699" y="0"/>
                  </a:lnTo>
                  <a:lnTo>
                    <a:pt x="0" y="0"/>
                  </a:lnTo>
                  <a:lnTo>
                    <a:pt x="0" y="317728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24252" y="933653"/>
            <a:ext cx="385445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35" dirty="0">
                <a:solidFill>
                  <a:srgbClr val="00AFEF"/>
                </a:solidFill>
                <a:latin typeface="Calibri Light"/>
                <a:cs typeface="Calibri Light"/>
              </a:rPr>
              <a:t>Segmentos</a:t>
            </a:r>
            <a:r>
              <a:rPr sz="3100" spc="-12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3100" dirty="0">
                <a:solidFill>
                  <a:srgbClr val="00AFEF"/>
                </a:solidFill>
                <a:latin typeface="Calibri Light"/>
                <a:cs typeface="Calibri Light"/>
              </a:rPr>
              <a:t>de</a:t>
            </a:r>
            <a:r>
              <a:rPr sz="3100" spc="-10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3100" spc="-10" dirty="0">
                <a:solidFill>
                  <a:srgbClr val="00AFEF"/>
                </a:solidFill>
                <a:latin typeface="Calibri Light"/>
                <a:cs typeface="Calibri Light"/>
              </a:rPr>
              <a:t>Densidad:</a:t>
            </a:r>
            <a:endParaRPr sz="31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5376" y="2636596"/>
            <a:ext cx="343535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716280" marR="5080" indent="-704215">
              <a:lnSpc>
                <a:spcPts val="5190"/>
              </a:lnSpc>
              <a:spcBef>
                <a:spcPts val="750"/>
              </a:spcBef>
            </a:pPr>
            <a:r>
              <a:rPr sz="4800" spc="-55" dirty="0">
                <a:solidFill>
                  <a:srgbClr val="00AFEF"/>
                </a:solidFill>
                <a:latin typeface="Calibri Light"/>
                <a:cs typeface="Calibri Light"/>
              </a:rPr>
              <a:t>Segmentación </a:t>
            </a:r>
            <a:r>
              <a:rPr sz="4800" spc="-10" dirty="0">
                <a:solidFill>
                  <a:srgbClr val="00AFEF"/>
                </a:solidFill>
                <a:latin typeface="Calibri Light"/>
                <a:cs typeface="Calibri Light"/>
              </a:rPr>
              <a:t>DBSCAN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7075">
              <a:lnSpc>
                <a:spcPct val="100000"/>
              </a:lnSpc>
              <a:spcBef>
                <a:spcPts val="105"/>
              </a:spcBef>
            </a:pPr>
            <a:r>
              <a:rPr sz="3200" spc="-35" dirty="0">
                <a:solidFill>
                  <a:srgbClr val="00AFEF"/>
                </a:solidFill>
                <a:latin typeface="Calibri Light"/>
                <a:cs typeface="Calibri Light"/>
              </a:rPr>
              <a:t>Características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8785" y="1646885"/>
            <a:ext cx="8232775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  <a:tab pos="1341120" algn="l"/>
                <a:tab pos="1947545" algn="l"/>
                <a:tab pos="2298700" algn="l"/>
                <a:tab pos="3560445" algn="l"/>
                <a:tab pos="4906645" algn="l"/>
                <a:tab pos="5353050" algn="l"/>
                <a:tab pos="5836285" algn="l"/>
                <a:tab pos="6652895" algn="l"/>
                <a:tab pos="7945755" algn="l"/>
              </a:tabLst>
            </a:pP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Asume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que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la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densidad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alrededor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los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datos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normales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similar</a:t>
            </a:r>
            <a:r>
              <a:rPr sz="2400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densidad</a:t>
            </a:r>
            <a:r>
              <a:rPr sz="2400" spc="-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alrededor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sus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vecinos.</a:t>
            </a:r>
            <a:endParaRPr sz="24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288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</a:t>
            </a:r>
            <a:r>
              <a:rPr sz="2400" spc="360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densidad</a:t>
            </a:r>
            <a:r>
              <a:rPr sz="2400" spc="370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alrededor</a:t>
            </a:r>
            <a:r>
              <a:rPr sz="2400" spc="360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365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los</a:t>
            </a:r>
            <a:r>
              <a:rPr sz="2400" spc="360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valores</a:t>
            </a:r>
            <a:r>
              <a:rPr sz="2400" spc="370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atípicos</a:t>
            </a:r>
            <a:r>
              <a:rPr sz="2400" spc="355" dirty="0">
                <a:solidFill>
                  <a:srgbClr val="1F4E79"/>
                </a:solidFill>
                <a:latin typeface="Calibri"/>
                <a:cs typeface="Calibri"/>
              </a:rPr>
              <a:t>   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es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considerablemente</a:t>
            </a:r>
            <a:r>
              <a:rPr sz="2400" spc="39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diferente</a:t>
            </a:r>
            <a:r>
              <a:rPr sz="2400" spc="39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</a:t>
            </a:r>
            <a:r>
              <a:rPr sz="2400" spc="39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</a:t>
            </a:r>
            <a:r>
              <a:rPr sz="2400" spc="3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densidad</a:t>
            </a:r>
            <a:r>
              <a:rPr sz="2400" spc="38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alrededor</a:t>
            </a:r>
            <a:r>
              <a:rPr sz="2400" spc="38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40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4E79"/>
                </a:solidFill>
                <a:latin typeface="Calibri"/>
                <a:cs typeface="Calibri"/>
              </a:rPr>
              <a:t>sus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vecinos.</a:t>
            </a:r>
            <a:endParaRPr sz="240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288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Hace</a:t>
            </a:r>
            <a:r>
              <a:rPr sz="2400" spc="100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crecer</a:t>
            </a:r>
            <a:r>
              <a:rPr sz="2400" spc="105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regiones</a:t>
            </a:r>
            <a:r>
              <a:rPr sz="2400" spc="100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con</a:t>
            </a:r>
            <a:r>
              <a:rPr sz="2400" spc="100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suficiente</a:t>
            </a:r>
            <a:r>
              <a:rPr sz="2400" spc="110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densidad</a:t>
            </a:r>
            <a:r>
              <a:rPr sz="2400" spc="105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para</a:t>
            </a:r>
            <a:r>
              <a:rPr sz="2400" spc="110" dirty="0">
                <a:solidFill>
                  <a:srgbClr val="1F4E79"/>
                </a:solidFill>
                <a:latin typeface="Calibri"/>
                <a:cs typeface="Calibri"/>
              </a:rPr>
              <a:t> 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formar grupos</a:t>
            </a:r>
            <a:endParaRPr sz="240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288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Los</a:t>
            </a:r>
            <a:r>
              <a:rPr sz="2400" spc="5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grupos</a:t>
            </a:r>
            <a:r>
              <a:rPr sz="2400" spc="5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que</a:t>
            </a:r>
            <a:r>
              <a:rPr sz="2400" spc="5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separan</a:t>
            </a:r>
            <a:r>
              <a:rPr sz="2400" spc="5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las</a:t>
            </a:r>
            <a:r>
              <a:rPr sz="2400" spc="5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regiones</a:t>
            </a:r>
            <a:r>
              <a:rPr sz="2400" spc="5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son</a:t>
            </a:r>
            <a:r>
              <a:rPr sz="2400" spc="5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59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baja</a:t>
            </a:r>
            <a:r>
              <a:rPr sz="2400" spc="5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densidad (</a:t>
            </a:r>
            <a:r>
              <a:rPr sz="2400" b="1" i="1" spc="-10" dirty="0">
                <a:solidFill>
                  <a:srgbClr val="1F4E79"/>
                </a:solidFill>
                <a:latin typeface="Calibri"/>
                <a:cs typeface="Calibri"/>
              </a:rPr>
              <a:t>ruidos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0627" y="824306"/>
            <a:ext cx="13677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AFEF"/>
                </a:solidFill>
                <a:latin typeface="Calibri Light"/>
                <a:cs typeface="Calibri Light"/>
              </a:rPr>
              <a:t>DBSCAN</a:t>
            </a:r>
            <a:endParaRPr sz="32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7965" y="2020379"/>
            <a:ext cx="9838055" cy="4142104"/>
            <a:chOff x="1147965" y="2020379"/>
            <a:chExt cx="9838055" cy="41421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7369" y="2020379"/>
              <a:ext cx="4858384" cy="41418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7965" y="2063813"/>
              <a:ext cx="4866005" cy="409841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240407" y="1577085"/>
            <a:ext cx="293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Número</a:t>
            </a:r>
            <a:r>
              <a:rPr sz="18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estimado</a:t>
            </a:r>
            <a:r>
              <a:rPr sz="1800" b="1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1800" b="1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cluster:</a:t>
            </a:r>
            <a:r>
              <a:rPr sz="1800" b="1" spc="-50" dirty="0">
                <a:solidFill>
                  <a:srgbClr val="1F4E79"/>
                </a:solidFill>
                <a:latin typeface="Calibri"/>
                <a:cs typeface="Calibri"/>
              </a:rPr>
              <a:t> 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7173" y="1575053"/>
            <a:ext cx="2939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Número</a:t>
            </a:r>
            <a:r>
              <a:rPr sz="18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estimado</a:t>
            </a:r>
            <a:r>
              <a:rPr sz="18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18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cluster:</a:t>
            </a:r>
            <a:r>
              <a:rPr sz="18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1F4E79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9279" y="845007"/>
            <a:ext cx="13677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AFEF"/>
                </a:solidFill>
                <a:latin typeface="Calibri Light"/>
                <a:cs typeface="Calibri Light"/>
              </a:rPr>
              <a:t>DBSCAN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9338" y="1587855"/>
            <a:ext cx="7938134" cy="469011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4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0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algoritmo</a:t>
            </a:r>
            <a:r>
              <a:rPr sz="20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requiere</a:t>
            </a:r>
            <a:r>
              <a:rPr sz="20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dos</a:t>
            </a:r>
            <a:r>
              <a:rPr sz="20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parámetros</a:t>
            </a:r>
            <a:r>
              <a:rPr sz="2000" spc="-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principales:</a:t>
            </a:r>
            <a:endParaRPr sz="2000">
              <a:latin typeface="Calibri"/>
              <a:cs typeface="Calibri"/>
            </a:endParaRPr>
          </a:p>
          <a:p>
            <a:pPr marL="1061720" lvl="1" indent="-134620">
              <a:lnSpc>
                <a:spcPct val="100000"/>
              </a:lnSpc>
              <a:spcBef>
                <a:spcPts val="840"/>
              </a:spcBef>
              <a:buFont typeface="Calibri"/>
              <a:buChar char="-"/>
              <a:tabLst>
                <a:tab pos="1061720" algn="l"/>
              </a:tabLst>
            </a:pP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000" b="1" i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parámetro</a:t>
            </a:r>
            <a:r>
              <a:rPr sz="2000" b="1" i="1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epsilon</a:t>
            </a:r>
            <a:r>
              <a:rPr sz="2000" b="1" i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(eps),</a:t>
            </a:r>
            <a:r>
              <a:rPr sz="2000" b="1" i="1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define</a:t>
            </a:r>
            <a:r>
              <a:rPr sz="20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radio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vecindad</a:t>
            </a:r>
            <a:endParaRPr sz="2000">
              <a:latin typeface="Calibri"/>
              <a:cs typeface="Calibri"/>
            </a:endParaRPr>
          </a:p>
          <a:p>
            <a:pPr marL="1041400">
              <a:lnSpc>
                <a:spcPct val="100000"/>
              </a:lnSpc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alrededor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punto.</a:t>
            </a:r>
            <a:endParaRPr sz="2000">
              <a:latin typeface="Calibri"/>
              <a:cs typeface="Calibri"/>
            </a:endParaRPr>
          </a:p>
          <a:p>
            <a:pPr marL="1041400" marR="1111885" lvl="1" indent="-114300">
              <a:lnSpc>
                <a:spcPct val="100000"/>
              </a:lnSpc>
              <a:buFont typeface="Calibri"/>
              <a:buChar char="-"/>
              <a:tabLst>
                <a:tab pos="1041400" algn="l"/>
                <a:tab pos="1061720" algn="l"/>
              </a:tabLst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	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000" b="1" i="1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número</a:t>
            </a:r>
            <a:r>
              <a:rPr sz="2000" b="1" i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mínimo</a:t>
            </a:r>
            <a:r>
              <a:rPr sz="2000" b="1" i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b="1" i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puntos</a:t>
            </a:r>
            <a:r>
              <a:rPr sz="2000" b="1" i="1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(MinPts)</a:t>
            </a:r>
            <a:r>
              <a:rPr sz="2000" b="1" i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vecinos</a:t>
            </a:r>
            <a:r>
              <a:rPr sz="20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20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un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radio</a:t>
            </a:r>
            <a:r>
              <a:rPr sz="2000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1F4E79"/>
                </a:solidFill>
                <a:latin typeface="Calibri"/>
                <a:cs typeface="Calibri"/>
              </a:rPr>
              <a:t>eps.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34"/>
              </a:spcBef>
              <a:buClr>
                <a:srgbClr val="1F4E79"/>
              </a:buClr>
              <a:buFont typeface="Calibri"/>
              <a:buChar char="-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Cualquier</a:t>
            </a:r>
            <a:r>
              <a:rPr sz="2000" spc="2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punto</a:t>
            </a:r>
            <a:r>
              <a:rPr sz="2000" spc="2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2000" spc="229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000" spc="229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set</a:t>
            </a:r>
            <a:r>
              <a:rPr sz="2000" spc="229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spc="2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datos,</a:t>
            </a:r>
            <a:r>
              <a:rPr sz="2000" spc="2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con</a:t>
            </a:r>
            <a:r>
              <a:rPr sz="2000" spc="2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2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número</a:t>
            </a:r>
            <a:r>
              <a:rPr sz="2000" spc="229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mayor</a:t>
            </a:r>
            <a:r>
              <a:rPr sz="2000" spc="2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o</a:t>
            </a:r>
            <a:r>
              <a:rPr sz="2000" spc="229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igual</a:t>
            </a:r>
            <a:r>
              <a:rPr sz="2000" spc="229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que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b="1" i="1" dirty="0">
                <a:solidFill>
                  <a:srgbClr val="1F4E79"/>
                </a:solidFill>
                <a:latin typeface="Calibri"/>
                <a:cs typeface="Calibri"/>
              </a:rPr>
              <a:t>MinPts</a:t>
            </a:r>
            <a:r>
              <a:rPr sz="2000" b="1" i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se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considera</a:t>
            </a:r>
            <a:r>
              <a:rPr sz="20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punto</a:t>
            </a:r>
            <a:r>
              <a:rPr sz="2000" b="1" u="sng" spc="-4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núcleo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punto</a:t>
            </a:r>
            <a:r>
              <a:rPr sz="2000" spc="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se</a:t>
            </a:r>
            <a:r>
              <a:rPr sz="2000" spc="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considera</a:t>
            </a:r>
            <a:r>
              <a:rPr sz="2000" spc="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punto</a:t>
            </a:r>
            <a:r>
              <a:rPr sz="2000" b="1" u="sng" spc="7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frontera</a:t>
            </a:r>
            <a:r>
              <a:rPr sz="2000" b="1" u="sng" spc="6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si</a:t>
            </a:r>
            <a:r>
              <a:rPr sz="2000" spc="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tiene</a:t>
            </a:r>
            <a:r>
              <a:rPr sz="2000" spc="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menos</a:t>
            </a:r>
            <a:r>
              <a:rPr sz="2000" spc="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spc="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MinPts</a:t>
            </a:r>
            <a:r>
              <a:rPr sz="2000" spc="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vecinos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pero</a:t>
            </a:r>
            <a:r>
              <a:rPr sz="20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el</a:t>
            </a:r>
            <a:r>
              <a:rPr sz="20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es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vecino</a:t>
            </a:r>
            <a:r>
              <a:rPr sz="20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punto</a:t>
            </a:r>
            <a:r>
              <a:rPr sz="20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núcleo.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-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punto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que</a:t>
            </a:r>
            <a:r>
              <a:rPr sz="20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no</a:t>
            </a:r>
            <a:r>
              <a:rPr sz="2000" spc="-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es</a:t>
            </a:r>
            <a:r>
              <a:rPr sz="2000" spc="-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ni</a:t>
            </a:r>
            <a:r>
              <a:rPr sz="20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núcleo</a:t>
            </a:r>
            <a:r>
              <a:rPr sz="2000" spc="-1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ni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 frontera,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 se</a:t>
            </a:r>
            <a:r>
              <a:rPr sz="20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considera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000" spc="-2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punto</a:t>
            </a:r>
            <a:r>
              <a:rPr sz="2000" b="1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de</a:t>
            </a:r>
            <a:r>
              <a:rPr sz="2000" b="1" u="sng" spc="-5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Calibri"/>
                <a:cs typeface="Calibri"/>
              </a:rPr>
              <a:t>ruido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o</a:t>
            </a:r>
            <a:r>
              <a:rPr sz="20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valor</a:t>
            </a:r>
            <a:r>
              <a:rPr sz="20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atípico</a:t>
            </a:r>
            <a:r>
              <a:rPr sz="2000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(outlier).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932" y="1314957"/>
            <a:ext cx="13671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AFEF"/>
                </a:solidFill>
                <a:latin typeface="Calibri Light"/>
                <a:cs typeface="Calibri Light"/>
              </a:rPr>
              <a:t>DBSCAN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1168" y="2985897"/>
            <a:ext cx="141605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10" dirty="0">
                <a:solidFill>
                  <a:srgbClr val="001F5F"/>
                </a:solidFill>
                <a:latin typeface="Calibri Light"/>
                <a:cs typeface="Calibri Light"/>
              </a:rPr>
              <a:t>¿Cómo </a:t>
            </a:r>
            <a:r>
              <a:rPr sz="2800" spc="-25" dirty="0">
                <a:solidFill>
                  <a:srgbClr val="001F5F"/>
                </a:solidFill>
                <a:latin typeface="Calibri Light"/>
                <a:cs typeface="Calibri Light"/>
              </a:rPr>
              <a:t>funciona?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748" y="4115257"/>
            <a:ext cx="1045844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indent="-118745">
              <a:lnSpc>
                <a:spcPts val="2055"/>
              </a:lnSpc>
              <a:spcBef>
                <a:spcPts val="100"/>
              </a:spcBef>
              <a:buChar char="-"/>
              <a:tabLst>
                <a:tab pos="131445" algn="l"/>
              </a:tabLst>
            </a:pPr>
            <a:r>
              <a:rPr sz="1800" dirty="0">
                <a:solidFill>
                  <a:srgbClr val="001F5F"/>
                </a:solidFill>
                <a:latin typeface="Calibri Light"/>
                <a:cs typeface="Calibri Light"/>
              </a:rPr>
              <a:t>Eps:</a:t>
            </a:r>
            <a:r>
              <a:rPr sz="1800" spc="-55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1800" spc="-25" dirty="0">
                <a:solidFill>
                  <a:srgbClr val="001F5F"/>
                </a:solidFill>
                <a:latin typeface="Calibri Light"/>
                <a:cs typeface="Calibri Light"/>
              </a:rPr>
              <a:t>5u</a:t>
            </a:r>
            <a:endParaRPr sz="1800">
              <a:latin typeface="Calibri Light"/>
              <a:cs typeface="Calibri Light"/>
            </a:endParaRPr>
          </a:p>
          <a:p>
            <a:pPr marL="131445" indent="-118745">
              <a:lnSpc>
                <a:spcPts val="2055"/>
              </a:lnSpc>
              <a:buChar char="-"/>
              <a:tabLst>
                <a:tab pos="131445" algn="l"/>
              </a:tabLst>
            </a:pPr>
            <a:r>
              <a:rPr sz="1800" dirty="0">
                <a:solidFill>
                  <a:srgbClr val="001F5F"/>
                </a:solidFill>
                <a:latin typeface="Calibri Light"/>
                <a:cs typeface="Calibri Light"/>
              </a:rPr>
              <a:t>Pts</a:t>
            </a:r>
            <a:r>
              <a:rPr sz="1800" spc="-80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 Light"/>
                <a:cs typeface="Calibri Light"/>
              </a:rPr>
              <a:t>min:</a:t>
            </a:r>
            <a:r>
              <a:rPr sz="1800" spc="-35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1800" spc="-50" dirty="0">
                <a:solidFill>
                  <a:srgbClr val="001F5F"/>
                </a:solidFill>
                <a:latin typeface="Calibri Light"/>
                <a:cs typeface="Calibri Light"/>
              </a:rPr>
              <a:t>3</a:t>
            </a:r>
            <a:endParaRPr sz="18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15335" y="1056017"/>
            <a:ext cx="7557770" cy="5501005"/>
            <a:chOff x="2815335" y="1056017"/>
            <a:chExt cx="7557770" cy="55010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5335" y="1056017"/>
              <a:ext cx="7557261" cy="55010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8159" y="1320165"/>
              <a:ext cx="231648" cy="2316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6001" y="1588516"/>
              <a:ext cx="231648" cy="2316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6001" y="1858899"/>
              <a:ext cx="231648" cy="2316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696704" y="1209547"/>
            <a:ext cx="911225" cy="8699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1905">
              <a:lnSpc>
                <a:spcPct val="88400"/>
              </a:lnSpc>
              <a:spcBef>
                <a:spcPts val="380"/>
              </a:spcBef>
            </a:pPr>
            <a:r>
              <a:rPr sz="2000" spc="-10" dirty="0">
                <a:solidFill>
                  <a:srgbClr val="001F5F"/>
                </a:solidFill>
                <a:latin typeface="Calibri Light"/>
                <a:cs typeface="Calibri Light"/>
              </a:rPr>
              <a:t>núcleo frontera </a:t>
            </a:r>
            <a:r>
              <a:rPr sz="2000" spc="-20" dirty="0">
                <a:solidFill>
                  <a:srgbClr val="001F5F"/>
                </a:solidFill>
                <a:latin typeface="Calibri Light"/>
                <a:cs typeface="Calibri Light"/>
              </a:rPr>
              <a:t>anómalo</a:t>
            </a:r>
            <a:endParaRPr sz="2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3541" y="893445"/>
            <a:ext cx="13671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AFEF"/>
                </a:solidFill>
                <a:latin typeface="Calibri Light"/>
                <a:cs typeface="Calibri Light"/>
              </a:rPr>
              <a:t>DBSCAN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40"/>
              </a:spcBef>
              <a:buFont typeface="Wingdings"/>
              <a:buChar char=""/>
              <a:tabLst>
                <a:tab pos="354965" algn="l"/>
              </a:tabLst>
            </a:pPr>
            <a:r>
              <a:rPr spc="-10" dirty="0"/>
              <a:t>Ventajas:</a:t>
            </a:r>
          </a:p>
          <a:p>
            <a:pPr marL="1061720" lvl="1" indent="-134620">
              <a:lnSpc>
                <a:spcPct val="100000"/>
              </a:lnSpc>
              <a:spcBef>
                <a:spcPts val="840"/>
              </a:spcBef>
              <a:buSzPct val="83333"/>
              <a:buChar char="-"/>
              <a:tabLst>
                <a:tab pos="106172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No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necesita</a:t>
            </a:r>
            <a:r>
              <a:rPr sz="2400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asumir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un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número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fijo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clusteres.</a:t>
            </a:r>
            <a:endParaRPr sz="2400">
              <a:latin typeface="Calibri"/>
              <a:cs typeface="Calibri"/>
            </a:endParaRPr>
          </a:p>
          <a:p>
            <a:pPr marL="1061720" lvl="1" indent="-134620">
              <a:lnSpc>
                <a:spcPct val="100000"/>
              </a:lnSpc>
              <a:spcBef>
                <a:spcPts val="2400"/>
              </a:spcBef>
              <a:buSzPct val="83333"/>
              <a:buChar char="-"/>
              <a:tabLst>
                <a:tab pos="106172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No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depende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las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condiciones</a:t>
            </a:r>
            <a:r>
              <a:rPr sz="24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inicio.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830"/>
              </a:spcBef>
              <a:buFont typeface="Calibri"/>
              <a:buChar char="-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pc="-10" dirty="0"/>
              <a:t>Desventajas:</a:t>
            </a:r>
          </a:p>
          <a:p>
            <a:pPr marL="1087120" lvl="1" indent="-160020">
              <a:lnSpc>
                <a:spcPct val="100000"/>
              </a:lnSpc>
              <a:spcBef>
                <a:spcPts val="965"/>
              </a:spcBef>
              <a:buChar char="-"/>
              <a:tabLst>
                <a:tab pos="108712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Asume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densidades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similares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en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todos</a:t>
            </a:r>
            <a:r>
              <a:rPr sz="24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los</a:t>
            </a:r>
            <a:r>
              <a:rPr sz="24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clusteres.</a:t>
            </a:r>
            <a:endParaRPr sz="2400">
              <a:latin typeface="Calibri"/>
              <a:cs typeface="Calibri"/>
            </a:endParaRPr>
          </a:p>
          <a:p>
            <a:pPr marL="1087120" lvl="1" indent="-160020">
              <a:lnSpc>
                <a:spcPct val="100000"/>
              </a:lnSpc>
              <a:spcBef>
                <a:spcPts val="2880"/>
              </a:spcBef>
              <a:buChar char="-"/>
              <a:tabLst>
                <a:tab pos="1087120" algn="l"/>
              </a:tabLst>
            </a:pP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Puede</a:t>
            </a:r>
            <a:r>
              <a:rPr sz="24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tener</a:t>
            </a:r>
            <a:r>
              <a:rPr sz="2400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problemas</a:t>
            </a:r>
            <a:r>
              <a:rPr sz="2400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al</a:t>
            </a:r>
            <a:r>
              <a:rPr sz="2400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E79"/>
                </a:solidFill>
                <a:latin typeface="Calibri"/>
                <a:cs typeface="Calibri"/>
              </a:rPr>
              <a:t>separar</a:t>
            </a:r>
            <a:r>
              <a:rPr sz="2400" spc="-8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Calibri"/>
                <a:cs typeface="Calibri"/>
              </a:rPr>
              <a:t>clusteres.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27" y="403788"/>
            <a:ext cx="11361420" cy="6370955"/>
            <a:chOff x="300327" y="403788"/>
            <a:chExt cx="11361420" cy="6370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665" y="2112556"/>
              <a:ext cx="5013579" cy="417233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2670" y="2112187"/>
              <a:ext cx="5013578" cy="419392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6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Para</a:t>
            </a:r>
            <a:r>
              <a:rPr spc="-2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caso</a:t>
            </a:r>
            <a:r>
              <a:rPr spc="-5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</a:t>
            </a:r>
            <a:r>
              <a:rPr spc="-55" dirty="0"/>
              <a:t> </a:t>
            </a:r>
            <a:r>
              <a:rPr dirty="0"/>
              <a:t>cluster</a:t>
            </a:r>
            <a:r>
              <a:rPr spc="-30" dirty="0"/>
              <a:t> </a:t>
            </a:r>
            <a:r>
              <a:rPr dirty="0"/>
              <a:t>muy</a:t>
            </a:r>
            <a:r>
              <a:rPr spc="-45" dirty="0"/>
              <a:t> </a:t>
            </a:r>
            <a:r>
              <a:rPr dirty="0"/>
              <a:t>disperso</a:t>
            </a:r>
            <a:r>
              <a:rPr spc="-40" dirty="0"/>
              <a:t> </a:t>
            </a:r>
            <a:r>
              <a:rPr dirty="0"/>
              <a:t>y</a:t>
            </a:r>
            <a:r>
              <a:rPr spc="-45" dirty="0"/>
              <a:t> </a:t>
            </a:r>
            <a:r>
              <a:rPr dirty="0"/>
              <a:t>otro</a:t>
            </a:r>
            <a:r>
              <a:rPr spc="-50" dirty="0"/>
              <a:t> </a:t>
            </a:r>
            <a:r>
              <a:rPr dirty="0"/>
              <a:t>compacto</a:t>
            </a:r>
            <a:r>
              <a:rPr spc="-50" dirty="0"/>
              <a:t> </a:t>
            </a:r>
            <a:r>
              <a:rPr dirty="0"/>
              <a:t>uno</a:t>
            </a:r>
            <a:r>
              <a:rPr spc="-60" dirty="0"/>
              <a:t> </a:t>
            </a:r>
            <a:r>
              <a:rPr dirty="0"/>
              <a:t>cercano</a:t>
            </a:r>
            <a:r>
              <a:rPr spc="-50" dirty="0"/>
              <a:t> </a:t>
            </a:r>
            <a:r>
              <a:rPr dirty="0"/>
              <a:t>al</a:t>
            </a:r>
            <a:r>
              <a:rPr spc="-40" dirty="0"/>
              <a:t> </a:t>
            </a:r>
            <a:r>
              <a:rPr dirty="0"/>
              <a:t>otro</a:t>
            </a:r>
            <a:r>
              <a:rPr spc="-40" dirty="0"/>
              <a:t> </a:t>
            </a:r>
            <a:r>
              <a:rPr dirty="0"/>
              <a:t>¿qué</a:t>
            </a:r>
            <a:r>
              <a:rPr spc="-50" dirty="0"/>
              <a:t> </a:t>
            </a:r>
            <a:r>
              <a:rPr spc="-10" dirty="0"/>
              <a:t>pasaría?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91257" y="1777949"/>
            <a:ext cx="2938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Número</a:t>
            </a:r>
            <a:r>
              <a:rPr sz="18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18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cluster</a:t>
            </a:r>
            <a:r>
              <a:rPr sz="18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estimado:</a:t>
            </a:r>
            <a:r>
              <a:rPr sz="18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6845" y="1775916"/>
            <a:ext cx="2938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Número</a:t>
            </a:r>
            <a:r>
              <a:rPr sz="18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18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cluster</a:t>
            </a:r>
            <a:r>
              <a:rPr sz="18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EF"/>
                </a:solidFill>
                <a:latin typeface="Calibri"/>
                <a:cs typeface="Calibri"/>
              </a:rPr>
              <a:t>estimado:</a:t>
            </a:r>
            <a:r>
              <a:rPr sz="18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4541" y="526491"/>
            <a:ext cx="232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solidFill>
                  <a:srgbClr val="00AFEF"/>
                </a:solidFill>
                <a:latin typeface="Calibri Light"/>
                <a:cs typeface="Calibri Light"/>
              </a:rPr>
              <a:t>Metodología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1870" y="1909826"/>
            <a:ext cx="1565910" cy="493395"/>
            <a:chOff x="791870" y="1909826"/>
            <a:chExt cx="1565910" cy="493395"/>
          </a:xfrm>
        </p:grpSpPr>
        <p:sp>
          <p:nvSpPr>
            <p:cNvPr id="4" name="object 4"/>
            <p:cNvSpPr/>
            <p:nvPr/>
          </p:nvSpPr>
          <p:spPr>
            <a:xfrm>
              <a:off x="798220" y="1916176"/>
              <a:ext cx="1553210" cy="480695"/>
            </a:xfrm>
            <a:custGeom>
              <a:avLst/>
              <a:gdLst/>
              <a:ahLst/>
              <a:cxnLst/>
              <a:rect l="l" t="t" r="r" b="b"/>
              <a:pathLst>
                <a:path w="1553210" h="480694">
                  <a:moveTo>
                    <a:pt x="1312900" y="0"/>
                  </a:moveTo>
                  <a:lnTo>
                    <a:pt x="0" y="0"/>
                  </a:lnTo>
                  <a:lnTo>
                    <a:pt x="240157" y="240157"/>
                  </a:lnTo>
                  <a:lnTo>
                    <a:pt x="0" y="480313"/>
                  </a:lnTo>
                  <a:lnTo>
                    <a:pt x="1312900" y="480313"/>
                  </a:lnTo>
                  <a:lnTo>
                    <a:pt x="1553057" y="240157"/>
                  </a:lnTo>
                  <a:lnTo>
                    <a:pt x="13129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8220" y="1916176"/>
              <a:ext cx="1553210" cy="480695"/>
            </a:xfrm>
            <a:custGeom>
              <a:avLst/>
              <a:gdLst/>
              <a:ahLst/>
              <a:cxnLst/>
              <a:rect l="l" t="t" r="r" b="b"/>
              <a:pathLst>
                <a:path w="1553210" h="480694">
                  <a:moveTo>
                    <a:pt x="0" y="0"/>
                  </a:moveTo>
                  <a:lnTo>
                    <a:pt x="1312900" y="0"/>
                  </a:lnTo>
                  <a:lnTo>
                    <a:pt x="1553057" y="240157"/>
                  </a:lnTo>
                  <a:lnTo>
                    <a:pt x="1312900" y="480313"/>
                  </a:lnTo>
                  <a:lnTo>
                    <a:pt x="0" y="480313"/>
                  </a:lnTo>
                  <a:lnTo>
                    <a:pt x="240157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8892" y="1917903"/>
            <a:ext cx="889000" cy="4356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>
              <a:lnSpc>
                <a:spcPts val="161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1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1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Exploración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24913" y="1909826"/>
            <a:ext cx="1748155" cy="493395"/>
            <a:chOff x="2224913" y="1909826"/>
            <a:chExt cx="1748155" cy="493395"/>
          </a:xfrm>
        </p:grpSpPr>
        <p:sp>
          <p:nvSpPr>
            <p:cNvPr id="8" name="object 8"/>
            <p:cNvSpPr/>
            <p:nvPr/>
          </p:nvSpPr>
          <p:spPr>
            <a:xfrm>
              <a:off x="2231263" y="1916176"/>
              <a:ext cx="1735455" cy="480695"/>
            </a:xfrm>
            <a:custGeom>
              <a:avLst/>
              <a:gdLst/>
              <a:ahLst/>
              <a:cxnLst/>
              <a:rect l="l" t="t" r="r" b="b"/>
              <a:pathLst>
                <a:path w="1735454" h="480694">
                  <a:moveTo>
                    <a:pt x="1495044" y="0"/>
                  </a:moveTo>
                  <a:lnTo>
                    <a:pt x="0" y="0"/>
                  </a:lnTo>
                  <a:lnTo>
                    <a:pt x="240156" y="240157"/>
                  </a:lnTo>
                  <a:lnTo>
                    <a:pt x="0" y="480313"/>
                  </a:lnTo>
                  <a:lnTo>
                    <a:pt x="1495044" y="480313"/>
                  </a:lnTo>
                  <a:lnTo>
                    <a:pt x="1735201" y="240157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31263" y="1916176"/>
              <a:ext cx="1735455" cy="480695"/>
            </a:xfrm>
            <a:custGeom>
              <a:avLst/>
              <a:gdLst/>
              <a:ahLst/>
              <a:cxnLst/>
              <a:rect l="l" t="t" r="r" b="b"/>
              <a:pathLst>
                <a:path w="1735454" h="480694">
                  <a:moveTo>
                    <a:pt x="0" y="0"/>
                  </a:moveTo>
                  <a:lnTo>
                    <a:pt x="1495044" y="0"/>
                  </a:lnTo>
                  <a:lnTo>
                    <a:pt x="1735201" y="240157"/>
                  </a:lnTo>
                  <a:lnTo>
                    <a:pt x="1495044" y="480313"/>
                  </a:lnTo>
                  <a:lnTo>
                    <a:pt x="0" y="480313"/>
                  </a:lnTo>
                  <a:lnTo>
                    <a:pt x="240156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30220" y="2015998"/>
            <a:ext cx="11734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Transformación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39971" y="1909826"/>
            <a:ext cx="1558925" cy="493395"/>
            <a:chOff x="3839971" y="1909826"/>
            <a:chExt cx="1558925" cy="493395"/>
          </a:xfrm>
        </p:grpSpPr>
        <p:sp>
          <p:nvSpPr>
            <p:cNvPr id="12" name="object 12"/>
            <p:cNvSpPr/>
            <p:nvPr/>
          </p:nvSpPr>
          <p:spPr>
            <a:xfrm>
              <a:off x="3846321" y="1916176"/>
              <a:ext cx="1546225" cy="480695"/>
            </a:xfrm>
            <a:custGeom>
              <a:avLst/>
              <a:gdLst/>
              <a:ahLst/>
              <a:cxnLst/>
              <a:rect l="l" t="t" r="r" b="b"/>
              <a:pathLst>
                <a:path w="1546225" h="480694">
                  <a:moveTo>
                    <a:pt x="1305560" y="0"/>
                  </a:moveTo>
                  <a:lnTo>
                    <a:pt x="0" y="0"/>
                  </a:lnTo>
                  <a:lnTo>
                    <a:pt x="240156" y="240157"/>
                  </a:lnTo>
                  <a:lnTo>
                    <a:pt x="0" y="480313"/>
                  </a:lnTo>
                  <a:lnTo>
                    <a:pt x="1305560" y="480313"/>
                  </a:lnTo>
                  <a:lnTo>
                    <a:pt x="1545716" y="240157"/>
                  </a:lnTo>
                  <a:lnTo>
                    <a:pt x="130556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6321" y="1916176"/>
              <a:ext cx="1546225" cy="480695"/>
            </a:xfrm>
            <a:custGeom>
              <a:avLst/>
              <a:gdLst/>
              <a:ahLst/>
              <a:cxnLst/>
              <a:rect l="l" t="t" r="r" b="b"/>
              <a:pathLst>
                <a:path w="1546225" h="480694">
                  <a:moveTo>
                    <a:pt x="0" y="0"/>
                  </a:moveTo>
                  <a:lnTo>
                    <a:pt x="1305560" y="0"/>
                  </a:lnTo>
                  <a:lnTo>
                    <a:pt x="1545716" y="240157"/>
                  </a:lnTo>
                  <a:lnTo>
                    <a:pt x="1305560" y="480313"/>
                  </a:lnTo>
                  <a:lnTo>
                    <a:pt x="0" y="480313"/>
                  </a:lnTo>
                  <a:lnTo>
                    <a:pt x="240156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30065" y="2015998"/>
            <a:ext cx="616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65673" y="1909826"/>
            <a:ext cx="1598930" cy="493395"/>
            <a:chOff x="5265673" y="1909826"/>
            <a:chExt cx="1598930" cy="493395"/>
          </a:xfrm>
        </p:grpSpPr>
        <p:sp>
          <p:nvSpPr>
            <p:cNvPr id="16" name="object 16"/>
            <p:cNvSpPr/>
            <p:nvPr/>
          </p:nvSpPr>
          <p:spPr>
            <a:xfrm>
              <a:off x="5272023" y="1916176"/>
              <a:ext cx="1586230" cy="480695"/>
            </a:xfrm>
            <a:custGeom>
              <a:avLst/>
              <a:gdLst/>
              <a:ahLst/>
              <a:cxnLst/>
              <a:rect l="l" t="t" r="r" b="b"/>
              <a:pathLst>
                <a:path w="1586229" h="480694">
                  <a:moveTo>
                    <a:pt x="1345946" y="0"/>
                  </a:moveTo>
                  <a:lnTo>
                    <a:pt x="0" y="0"/>
                  </a:lnTo>
                  <a:lnTo>
                    <a:pt x="240156" y="240157"/>
                  </a:lnTo>
                  <a:lnTo>
                    <a:pt x="0" y="480313"/>
                  </a:lnTo>
                  <a:lnTo>
                    <a:pt x="1345946" y="480313"/>
                  </a:lnTo>
                  <a:lnTo>
                    <a:pt x="1586102" y="240157"/>
                  </a:lnTo>
                  <a:lnTo>
                    <a:pt x="134594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72023" y="1916176"/>
              <a:ext cx="1586230" cy="480695"/>
            </a:xfrm>
            <a:custGeom>
              <a:avLst/>
              <a:gdLst/>
              <a:ahLst/>
              <a:cxnLst/>
              <a:rect l="l" t="t" r="r" b="b"/>
              <a:pathLst>
                <a:path w="1586229" h="480694">
                  <a:moveTo>
                    <a:pt x="0" y="0"/>
                  </a:moveTo>
                  <a:lnTo>
                    <a:pt x="1345946" y="0"/>
                  </a:lnTo>
                  <a:lnTo>
                    <a:pt x="1586102" y="240157"/>
                  </a:lnTo>
                  <a:lnTo>
                    <a:pt x="1345946" y="480313"/>
                  </a:lnTo>
                  <a:lnTo>
                    <a:pt x="0" y="480313"/>
                  </a:lnTo>
                  <a:lnTo>
                    <a:pt x="240156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77585" y="1917903"/>
            <a:ext cx="1013460" cy="4356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61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Reducción</a:t>
            </a:r>
            <a:r>
              <a:rPr sz="1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1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dimensión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31634" y="1909826"/>
            <a:ext cx="1766570" cy="493395"/>
            <a:chOff x="6731634" y="1909826"/>
            <a:chExt cx="1766570" cy="493395"/>
          </a:xfrm>
        </p:grpSpPr>
        <p:sp>
          <p:nvSpPr>
            <p:cNvPr id="20" name="object 20"/>
            <p:cNvSpPr/>
            <p:nvPr/>
          </p:nvSpPr>
          <p:spPr>
            <a:xfrm>
              <a:off x="6737984" y="1916176"/>
              <a:ext cx="1753870" cy="480695"/>
            </a:xfrm>
            <a:custGeom>
              <a:avLst/>
              <a:gdLst/>
              <a:ahLst/>
              <a:cxnLst/>
              <a:rect l="l" t="t" r="r" b="b"/>
              <a:pathLst>
                <a:path w="1753870" h="480694">
                  <a:moveTo>
                    <a:pt x="1513332" y="0"/>
                  </a:moveTo>
                  <a:lnTo>
                    <a:pt x="0" y="0"/>
                  </a:lnTo>
                  <a:lnTo>
                    <a:pt x="240157" y="240157"/>
                  </a:lnTo>
                  <a:lnTo>
                    <a:pt x="0" y="480313"/>
                  </a:lnTo>
                  <a:lnTo>
                    <a:pt x="1513332" y="480313"/>
                  </a:lnTo>
                  <a:lnTo>
                    <a:pt x="1753489" y="240157"/>
                  </a:lnTo>
                  <a:lnTo>
                    <a:pt x="151333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37984" y="1916176"/>
              <a:ext cx="1753870" cy="480695"/>
            </a:xfrm>
            <a:custGeom>
              <a:avLst/>
              <a:gdLst/>
              <a:ahLst/>
              <a:cxnLst/>
              <a:rect l="l" t="t" r="r" b="b"/>
              <a:pathLst>
                <a:path w="1753870" h="480694">
                  <a:moveTo>
                    <a:pt x="0" y="0"/>
                  </a:moveTo>
                  <a:lnTo>
                    <a:pt x="1513332" y="0"/>
                  </a:lnTo>
                  <a:lnTo>
                    <a:pt x="1753489" y="240157"/>
                  </a:lnTo>
                  <a:lnTo>
                    <a:pt x="1513332" y="480313"/>
                  </a:lnTo>
                  <a:lnTo>
                    <a:pt x="0" y="480313"/>
                  </a:lnTo>
                  <a:lnTo>
                    <a:pt x="240157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071106" y="2015998"/>
            <a:ext cx="1124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Modelamiento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65108" y="1909826"/>
            <a:ext cx="1534795" cy="493395"/>
            <a:chOff x="8365108" y="1909826"/>
            <a:chExt cx="1534795" cy="493395"/>
          </a:xfrm>
        </p:grpSpPr>
        <p:sp>
          <p:nvSpPr>
            <p:cNvPr id="24" name="object 24"/>
            <p:cNvSpPr/>
            <p:nvPr/>
          </p:nvSpPr>
          <p:spPr>
            <a:xfrm>
              <a:off x="8371458" y="1916176"/>
              <a:ext cx="1522095" cy="480695"/>
            </a:xfrm>
            <a:custGeom>
              <a:avLst/>
              <a:gdLst/>
              <a:ahLst/>
              <a:cxnLst/>
              <a:rect l="l" t="t" r="r" b="b"/>
              <a:pathLst>
                <a:path w="1522095" h="480694">
                  <a:moveTo>
                    <a:pt x="1281938" y="0"/>
                  </a:moveTo>
                  <a:lnTo>
                    <a:pt x="0" y="0"/>
                  </a:lnTo>
                  <a:lnTo>
                    <a:pt x="240157" y="240157"/>
                  </a:lnTo>
                  <a:lnTo>
                    <a:pt x="0" y="480313"/>
                  </a:lnTo>
                  <a:lnTo>
                    <a:pt x="1281938" y="480313"/>
                  </a:lnTo>
                  <a:lnTo>
                    <a:pt x="1521968" y="240157"/>
                  </a:lnTo>
                  <a:lnTo>
                    <a:pt x="128193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71458" y="1916176"/>
              <a:ext cx="1522095" cy="480695"/>
            </a:xfrm>
            <a:custGeom>
              <a:avLst/>
              <a:gdLst/>
              <a:ahLst/>
              <a:cxnLst/>
              <a:rect l="l" t="t" r="r" b="b"/>
              <a:pathLst>
                <a:path w="1522095" h="480694">
                  <a:moveTo>
                    <a:pt x="0" y="0"/>
                  </a:moveTo>
                  <a:lnTo>
                    <a:pt x="1281938" y="0"/>
                  </a:lnTo>
                  <a:lnTo>
                    <a:pt x="1521968" y="240157"/>
                  </a:lnTo>
                  <a:lnTo>
                    <a:pt x="1281938" y="480313"/>
                  </a:lnTo>
                  <a:lnTo>
                    <a:pt x="0" y="480313"/>
                  </a:lnTo>
                  <a:lnTo>
                    <a:pt x="240157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44457" y="2015998"/>
            <a:ext cx="8159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Evaluación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767061" y="1909826"/>
            <a:ext cx="1598930" cy="493395"/>
            <a:chOff x="9767061" y="1909826"/>
            <a:chExt cx="1598930" cy="493395"/>
          </a:xfrm>
        </p:grpSpPr>
        <p:sp>
          <p:nvSpPr>
            <p:cNvPr id="28" name="object 28"/>
            <p:cNvSpPr/>
            <p:nvPr/>
          </p:nvSpPr>
          <p:spPr>
            <a:xfrm>
              <a:off x="9773411" y="1916176"/>
              <a:ext cx="1586230" cy="480695"/>
            </a:xfrm>
            <a:custGeom>
              <a:avLst/>
              <a:gdLst/>
              <a:ahLst/>
              <a:cxnLst/>
              <a:rect l="l" t="t" r="r" b="b"/>
              <a:pathLst>
                <a:path w="1586229" h="480694">
                  <a:moveTo>
                    <a:pt x="1346073" y="0"/>
                  </a:moveTo>
                  <a:lnTo>
                    <a:pt x="0" y="0"/>
                  </a:lnTo>
                  <a:lnTo>
                    <a:pt x="240157" y="240157"/>
                  </a:lnTo>
                  <a:lnTo>
                    <a:pt x="0" y="480313"/>
                  </a:lnTo>
                  <a:lnTo>
                    <a:pt x="1346073" y="480313"/>
                  </a:lnTo>
                  <a:lnTo>
                    <a:pt x="1586230" y="240157"/>
                  </a:lnTo>
                  <a:lnTo>
                    <a:pt x="134607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73411" y="1916176"/>
              <a:ext cx="1586230" cy="480695"/>
            </a:xfrm>
            <a:custGeom>
              <a:avLst/>
              <a:gdLst/>
              <a:ahLst/>
              <a:cxnLst/>
              <a:rect l="l" t="t" r="r" b="b"/>
              <a:pathLst>
                <a:path w="1586229" h="480694">
                  <a:moveTo>
                    <a:pt x="0" y="0"/>
                  </a:moveTo>
                  <a:lnTo>
                    <a:pt x="1346073" y="0"/>
                  </a:lnTo>
                  <a:lnTo>
                    <a:pt x="1586230" y="240157"/>
                  </a:lnTo>
                  <a:lnTo>
                    <a:pt x="1346073" y="480313"/>
                  </a:lnTo>
                  <a:lnTo>
                    <a:pt x="0" y="480313"/>
                  </a:lnTo>
                  <a:lnTo>
                    <a:pt x="240157" y="24015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93197" y="1917903"/>
            <a:ext cx="984885" cy="4356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161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Perfil</a:t>
            </a:r>
            <a:r>
              <a:rPr sz="1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1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Visualización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22754" y="2545842"/>
            <a:ext cx="8119745" cy="3916045"/>
            <a:chOff x="2222754" y="2545842"/>
            <a:chExt cx="8119745" cy="3916045"/>
          </a:xfrm>
        </p:grpSpPr>
        <p:sp>
          <p:nvSpPr>
            <p:cNvPr id="32" name="object 32"/>
            <p:cNvSpPr/>
            <p:nvPr/>
          </p:nvSpPr>
          <p:spPr>
            <a:xfrm>
              <a:off x="2229104" y="2552192"/>
              <a:ext cx="7604125" cy="2390775"/>
            </a:xfrm>
            <a:custGeom>
              <a:avLst/>
              <a:gdLst/>
              <a:ahLst/>
              <a:cxnLst/>
              <a:rect l="l" t="t" r="r" b="b"/>
              <a:pathLst>
                <a:path w="7604125" h="2390775">
                  <a:moveTo>
                    <a:pt x="0" y="0"/>
                  </a:moveTo>
                  <a:lnTo>
                    <a:pt x="0" y="2361057"/>
                  </a:lnTo>
                </a:path>
                <a:path w="7604125" h="2390775">
                  <a:moveTo>
                    <a:pt x="1612772" y="15875"/>
                  </a:moveTo>
                  <a:lnTo>
                    <a:pt x="1612772" y="2376932"/>
                  </a:lnTo>
                </a:path>
                <a:path w="7604125" h="2390775">
                  <a:moveTo>
                    <a:pt x="3100323" y="29463"/>
                  </a:moveTo>
                  <a:lnTo>
                    <a:pt x="3100323" y="2390521"/>
                  </a:lnTo>
                </a:path>
                <a:path w="7604125" h="2390775">
                  <a:moveTo>
                    <a:pt x="4588002" y="29463"/>
                  </a:moveTo>
                  <a:lnTo>
                    <a:pt x="4588002" y="2390521"/>
                  </a:lnTo>
                </a:path>
                <a:path w="7604125" h="2390775">
                  <a:moveTo>
                    <a:pt x="6143752" y="29463"/>
                  </a:moveTo>
                  <a:lnTo>
                    <a:pt x="6143752" y="2390521"/>
                  </a:lnTo>
                </a:path>
                <a:path w="7604125" h="2390775">
                  <a:moveTo>
                    <a:pt x="7604125" y="29463"/>
                  </a:moveTo>
                  <a:lnTo>
                    <a:pt x="7604125" y="2390521"/>
                  </a:lnTo>
                </a:path>
              </a:pathLst>
            </a:custGeom>
            <a:ln w="12700">
              <a:solidFill>
                <a:srgbClr val="5B9BD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78075" y="5341874"/>
              <a:ext cx="3987800" cy="1113790"/>
            </a:xfrm>
            <a:custGeom>
              <a:avLst/>
              <a:gdLst/>
              <a:ahLst/>
              <a:cxnLst/>
              <a:rect l="l" t="t" r="r" b="b"/>
              <a:pathLst>
                <a:path w="3987800" h="1113789">
                  <a:moveTo>
                    <a:pt x="156718" y="0"/>
                  </a:moveTo>
                  <a:lnTo>
                    <a:pt x="0" y="278409"/>
                  </a:lnTo>
                  <a:lnTo>
                    <a:pt x="139192" y="278409"/>
                  </a:lnTo>
                  <a:lnTo>
                    <a:pt x="156372" y="297086"/>
                  </a:lnTo>
                  <a:lnTo>
                    <a:pt x="193849" y="333995"/>
                  </a:lnTo>
                  <a:lnTo>
                    <a:pt x="235408" y="370293"/>
                  </a:lnTo>
                  <a:lnTo>
                    <a:pt x="280963" y="405962"/>
                  </a:lnTo>
                  <a:lnTo>
                    <a:pt x="330428" y="440984"/>
                  </a:lnTo>
                  <a:lnTo>
                    <a:pt x="383717" y="475340"/>
                  </a:lnTo>
                  <a:lnTo>
                    <a:pt x="440743" y="509010"/>
                  </a:lnTo>
                  <a:lnTo>
                    <a:pt x="501420" y="541977"/>
                  </a:lnTo>
                  <a:lnTo>
                    <a:pt x="565662" y="574222"/>
                  </a:lnTo>
                  <a:lnTo>
                    <a:pt x="633383" y="605725"/>
                  </a:lnTo>
                  <a:lnTo>
                    <a:pt x="668522" y="621194"/>
                  </a:lnTo>
                  <a:lnTo>
                    <a:pt x="704497" y="636469"/>
                  </a:lnTo>
                  <a:lnTo>
                    <a:pt x="741299" y="651550"/>
                  </a:lnTo>
                  <a:lnTo>
                    <a:pt x="778917" y="666435"/>
                  </a:lnTo>
                  <a:lnTo>
                    <a:pt x="817340" y="681120"/>
                  </a:lnTo>
                  <a:lnTo>
                    <a:pt x="856557" y="695603"/>
                  </a:lnTo>
                  <a:lnTo>
                    <a:pt x="896557" y="709882"/>
                  </a:lnTo>
                  <a:lnTo>
                    <a:pt x="937330" y="723955"/>
                  </a:lnTo>
                  <a:lnTo>
                    <a:pt x="978865" y="737820"/>
                  </a:lnTo>
                  <a:lnTo>
                    <a:pt x="1021151" y="751473"/>
                  </a:lnTo>
                  <a:lnTo>
                    <a:pt x="1064178" y="764914"/>
                  </a:lnTo>
                  <a:lnTo>
                    <a:pt x="1107934" y="778138"/>
                  </a:lnTo>
                  <a:lnTo>
                    <a:pt x="1152408" y="791145"/>
                  </a:lnTo>
                  <a:lnTo>
                    <a:pt x="1197591" y="803931"/>
                  </a:lnTo>
                  <a:lnTo>
                    <a:pt x="1243471" y="816495"/>
                  </a:lnTo>
                  <a:lnTo>
                    <a:pt x="1290037" y="828833"/>
                  </a:lnTo>
                  <a:lnTo>
                    <a:pt x="1337279" y="840945"/>
                  </a:lnTo>
                  <a:lnTo>
                    <a:pt x="1385186" y="852826"/>
                  </a:lnTo>
                  <a:lnTo>
                    <a:pt x="1433747" y="864476"/>
                  </a:lnTo>
                  <a:lnTo>
                    <a:pt x="1482951" y="875891"/>
                  </a:lnTo>
                  <a:lnTo>
                    <a:pt x="1532788" y="887070"/>
                  </a:lnTo>
                  <a:lnTo>
                    <a:pt x="1583247" y="898010"/>
                  </a:lnTo>
                  <a:lnTo>
                    <a:pt x="1634316" y="908708"/>
                  </a:lnTo>
                  <a:lnTo>
                    <a:pt x="1685986" y="919163"/>
                  </a:lnTo>
                  <a:lnTo>
                    <a:pt x="1738245" y="929371"/>
                  </a:lnTo>
                  <a:lnTo>
                    <a:pt x="1791083" y="939331"/>
                  </a:lnTo>
                  <a:lnTo>
                    <a:pt x="1844488" y="949041"/>
                  </a:lnTo>
                  <a:lnTo>
                    <a:pt x="1898451" y="958498"/>
                  </a:lnTo>
                  <a:lnTo>
                    <a:pt x="1952960" y="967699"/>
                  </a:lnTo>
                  <a:lnTo>
                    <a:pt x="2008004" y="976642"/>
                  </a:lnTo>
                  <a:lnTo>
                    <a:pt x="2063573" y="985326"/>
                  </a:lnTo>
                  <a:lnTo>
                    <a:pt x="2119657" y="993747"/>
                  </a:lnTo>
                  <a:lnTo>
                    <a:pt x="2176243" y="1001903"/>
                  </a:lnTo>
                  <a:lnTo>
                    <a:pt x="2233322" y="1009793"/>
                  </a:lnTo>
                  <a:lnTo>
                    <a:pt x="2290882" y="1017412"/>
                  </a:lnTo>
                  <a:lnTo>
                    <a:pt x="2348913" y="1024761"/>
                  </a:lnTo>
                  <a:lnTo>
                    <a:pt x="2407404" y="1031835"/>
                  </a:lnTo>
                  <a:lnTo>
                    <a:pt x="2466345" y="1038633"/>
                  </a:lnTo>
                  <a:lnTo>
                    <a:pt x="2525724" y="1045152"/>
                  </a:lnTo>
                  <a:lnTo>
                    <a:pt x="2585531" y="1051390"/>
                  </a:lnTo>
                  <a:lnTo>
                    <a:pt x="2645754" y="1057344"/>
                  </a:lnTo>
                  <a:lnTo>
                    <a:pt x="2706384" y="1063013"/>
                  </a:lnTo>
                  <a:lnTo>
                    <a:pt x="2767409" y="1068394"/>
                  </a:lnTo>
                  <a:lnTo>
                    <a:pt x="2828819" y="1073484"/>
                  </a:lnTo>
                  <a:lnTo>
                    <a:pt x="2890603" y="1078282"/>
                  </a:lnTo>
                  <a:lnTo>
                    <a:pt x="2952749" y="1082784"/>
                  </a:lnTo>
                  <a:lnTo>
                    <a:pt x="3015248" y="1086990"/>
                  </a:lnTo>
                  <a:lnTo>
                    <a:pt x="3078088" y="1090895"/>
                  </a:lnTo>
                  <a:lnTo>
                    <a:pt x="3141260" y="1094498"/>
                  </a:lnTo>
                  <a:lnTo>
                    <a:pt x="3204751" y="1097797"/>
                  </a:lnTo>
                  <a:lnTo>
                    <a:pt x="3268551" y="1100789"/>
                  </a:lnTo>
                  <a:lnTo>
                    <a:pt x="3332649" y="1103472"/>
                  </a:lnTo>
                  <a:lnTo>
                    <a:pt x="3397035" y="1105843"/>
                  </a:lnTo>
                  <a:lnTo>
                    <a:pt x="3461698" y="1107901"/>
                  </a:lnTo>
                  <a:lnTo>
                    <a:pt x="3526627" y="1109643"/>
                  </a:lnTo>
                  <a:lnTo>
                    <a:pt x="3591811" y="1111066"/>
                  </a:lnTo>
                  <a:lnTo>
                    <a:pt x="3657240" y="1112168"/>
                  </a:lnTo>
                  <a:lnTo>
                    <a:pt x="3722902" y="1112947"/>
                  </a:lnTo>
                  <a:lnTo>
                    <a:pt x="3788787" y="1113401"/>
                  </a:lnTo>
                  <a:lnTo>
                    <a:pt x="3854885" y="1113527"/>
                  </a:lnTo>
                  <a:lnTo>
                    <a:pt x="3921183" y="1113323"/>
                  </a:lnTo>
                  <a:lnTo>
                    <a:pt x="3987673" y="1112786"/>
                  </a:lnTo>
                  <a:lnTo>
                    <a:pt x="3920041" y="1111899"/>
                  </a:lnTo>
                  <a:lnTo>
                    <a:pt x="3852679" y="1110671"/>
                  </a:lnTo>
                  <a:lnTo>
                    <a:pt x="3785597" y="1109106"/>
                  </a:lnTo>
                  <a:lnTo>
                    <a:pt x="3718807" y="1107206"/>
                  </a:lnTo>
                  <a:lnTo>
                    <a:pt x="3652319" y="1104973"/>
                  </a:lnTo>
                  <a:lnTo>
                    <a:pt x="3586145" y="1102410"/>
                  </a:lnTo>
                  <a:lnTo>
                    <a:pt x="3520296" y="1099520"/>
                  </a:lnTo>
                  <a:lnTo>
                    <a:pt x="3454784" y="1096306"/>
                  </a:lnTo>
                  <a:lnTo>
                    <a:pt x="3389619" y="1092769"/>
                  </a:lnTo>
                  <a:lnTo>
                    <a:pt x="3324812" y="1088913"/>
                  </a:lnTo>
                  <a:lnTo>
                    <a:pt x="3260376" y="1084740"/>
                  </a:lnTo>
                  <a:lnTo>
                    <a:pt x="3196320" y="1080253"/>
                  </a:lnTo>
                  <a:lnTo>
                    <a:pt x="3132656" y="1075455"/>
                  </a:lnTo>
                  <a:lnTo>
                    <a:pt x="3069396" y="1070348"/>
                  </a:lnTo>
                  <a:lnTo>
                    <a:pt x="3006551" y="1064934"/>
                  </a:lnTo>
                  <a:lnTo>
                    <a:pt x="2944131" y="1059217"/>
                  </a:lnTo>
                  <a:lnTo>
                    <a:pt x="2882148" y="1053198"/>
                  </a:lnTo>
                  <a:lnTo>
                    <a:pt x="2820613" y="1046881"/>
                  </a:lnTo>
                  <a:lnTo>
                    <a:pt x="2759538" y="1040268"/>
                  </a:lnTo>
                  <a:lnTo>
                    <a:pt x="2698933" y="1033362"/>
                  </a:lnTo>
                  <a:lnTo>
                    <a:pt x="2638809" y="1026165"/>
                  </a:lnTo>
                  <a:lnTo>
                    <a:pt x="2579179" y="1018681"/>
                  </a:lnTo>
                  <a:lnTo>
                    <a:pt x="2520053" y="1010910"/>
                  </a:lnTo>
                  <a:lnTo>
                    <a:pt x="2461442" y="1002857"/>
                  </a:lnTo>
                  <a:lnTo>
                    <a:pt x="2403357" y="994524"/>
                  </a:lnTo>
                  <a:lnTo>
                    <a:pt x="2345810" y="985914"/>
                  </a:lnTo>
                  <a:lnTo>
                    <a:pt x="2288812" y="977028"/>
                  </a:lnTo>
                  <a:lnTo>
                    <a:pt x="2232373" y="967870"/>
                  </a:lnTo>
                  <a:lnTo>
                    <a:pt x="2176506" y="958442"/>
                  </a:lnTo>
                  <a:lnTo>
                    <a:pt x="2121222" y="948747"/>
                  </a:lnTo>
                  <a:lnTo>
                    <a:pt x="2066530" y="938788"/>
                  </a:lnTo>
                  <a:lnTo>
                    <a:pt x="2012444" y="928567"/>
                  </a:lnTo>
                  <a:lnTo>
                    <a:pt x="1958974" y="918086"/>
                  </a:lnTo>
                  <a:lnTo>
                    <a:pt x="1906130" y="907349"/>
                  </a:lnTo>
                  <a:lnTo>
                    <a:pt x="1853925" y="896358"/>
                  </a:lnTo>
                  <a:lnTo>
                    <a:pt x="1802370" y="885115"/>
                  </a:lnTo>
                  <a:lnTo>
                    <a:pt x="1751475" y="873624"/>
                  </a:lnTo>
                  <a:lnTo>
                    <a:pt x="1701252" y="861886"/>
                  </a:lnTo>
                  <a:lnTo>
                    <a:pt x="1651712" y="849905"/>
                  </a:lnTo>
                  <a:lnTo>
                    <a:pt x="1602866" y="837683"/>
                  </a:lnTo>
                  <a:lnTo>
                    <a:pt x="1554726" y="825222"/>
                  </a:lnTo>
                  <a:lnTo>
                    <a:pt x="1507303" y="812526"/>
                  </a:lnTo>
                  <a:lnTo>
                    <a:pt x="1460607" y="799597"/>
                  </a:lnTo>
                  <a:lnTo>
                    <a:pt x="1414650" y="786437"/>
                  </a:lnTo>
                  <a:lnTo>
                    <a:pt x="1369444" y="773049"/>
                  </a:lnTo>
                  <a:lnTo>
                    <a:pt x="1324998" y="759436"/>
                  </a:lnTo>
                  <a:lnTo>
                    <a:pt x="1281326" y="745600"/>
                  </a:lnTo>
                  <a:lnTo>
                    <a:pt x="1238437" y="731544"/>
                  </a:lnTo>
                  <a:lnTo>
                    <a:pt x="1196343" y="717271"/>
                  </a:lnTo>
                  <a:lnTo>
                    <a:pt x="1155055" y="702783"/>
                  </a:lnTo>
                  <a:lnTo>
                    <a:pt x="1114585" y="688083"/>
                  </a:lnTo>
                  <a:lnTo>
                    <a:pt x="1074943" y="673173"/>
                  </a:lnTo>
                  <a:lnTo>
                    <a:pt x="1036140" y="658056"/>
                  </a:lnTo>
                  <a:lnTo>
                    <a:pt x="998189" y="642735"/>
                  </a:lnTo>
                  <a:lnTo>
                    <a:pt x="961100" y="627212"/>
                  </a:lnTo>
                  <a:lnTo>
                    <a:pt x="924883" y="611490"/>
                  </a:lnTo>
                  <a:lnTo>
                    <a:pt x="889552" y="595571"/>
                  </a:lnTo>
                  <a:lnTo>
                    <a:pt x="821587" y="563155"/>
                  </a:lnTo>
                  <a:lnTo>
                    <a:pt x="757293" y="529983"/>
                  </a:lnTo>
                  <a:lnTo>
                    <a:pt x="696762" y="496078"/>
                  </a:lnTo>
                  <a:lnTo>
                    <a:pt x="640081" y="461460"/>
                  </a:lnTo>
                  <a:lnTo>
                    <a:pt x="587341" y="426150"/>
                  </a:lnTo>
                  <a:lnTo>
                    <a:pt x="538631" y="390169"/>
                  </a:lnTo>
                  <a:lnTo>
                    <a:pt x="494040" y="353538"/>
                  </a:lnTo>
                  <a:lnTo>
                    <a:pt x="453659" y="316278"/>
                  </a:lnTo>
                  <a:lnTo>
                    <a:pt x="417575" y="278409"/>
                  </a:lnTo>
                  <a:lnTo>
                    <a:pt x="556768" y="278409"/>
                  </a:lnTo>
                  <a:lnTo>
                    <a:pt x="15671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26556" y="5341874"/>
              <a:ext cx="4109720" cy="1113790"/>
            </a:xfrm>
            <a:custGeom>
              <a:avLst/>
              <a:gdLst/>
              <a:ahLst/>
              <a:cxnLst/>
              <a:rect l="l" t="t" r="r" b="b"/>
              <a:pathLst>
                <a:path w="4109720" h="1113789">
                  <a:moveTo>
                    <a:pt x="4109339" y="0"/>
                  </a:moveTo>
                  <a:lnTo>
                    <a:pt x="3830954" y="0"/>
                  </a:lnTo>
                  <a:lnTo>
                    <a:pt x="3830307" y="20685"/>
                  </a:lnTo>
                  <a:lnTo>
                    <a:pt x="3828371" y="41279"/>
                  </a:lnTo>
                  <a:lnTo>
                    <a:pt x="3820680" y="82180"/>
                  </a:lnTo>
                  <a:lnTo>
                    <a:pt x="3807972" y="122676"/>
                  </a:lnTo>
                  <a:lnTo>
                    <a:pt x="3790335" y="162741"/>
                  </a:lnTo>
                  <a:lnTo>
                    <a:pt x="3767860" y="202348"/>
                  </a:lnTo>
                  <a:lnTo>
                    <a:pt x="3740635" y="241473"/>
                  </a:lnTo>
                  <a:lnTo>
                    <a:pt x="3708751" y="280089"/>
                  </a:lnTo>
                  <a:lnTo>
                    <a:pt x="3672297" y="318170"/>
                  </a:lnTo>
                  <a:lnTo>
                    <a:pt x="3631361" y="355690"/>
                  </a:lnTo>
                  <a:lnTo>
                    <a:pt x="3586035" y="392622"/>
                  </a:lnTo>
                  <a:lnTo>
                    <a:pt x="3536407" y="428942"/>
                  </a:lnTo>
                  <a:lnTo>
                    <a:pt x="3482566" y="464623"/>
                  </a:lnTo>
                  <a:lnTo>
                    <a:pt x="3424603" y="499638"/>
                  </a:lnTo>
                  <a:lnTo>
                    <a:pt x="3362606" y="533963"/>
                  </a:lnTo>
                  <a:lnTo>
                    <a:pt x="3296666" y="567570"/>
                  </a:lnTo>
                  <a:lnTo>
                    <a:pt x="3262245" y="584097"/>
                  </a:lnTo>
                  <a:lnTo>
                    <a:pt x="3226872" y="600434"/>
                  </a:lnTo>
                  <a:lnTo>
                    <a:pt x="3190557" y="616580"/>
                  </a:lnTo>
                  <a:lnTo>
                    <a:pt x="3153312" y="632529"/>
                  </a:lnTo>
                  <a:lnTo>
                    <a:pt x="3115149" y="648280"/>
                  </a:lnTo>
                  <a:lnTo>
                    <a:pt x="3076078" y="663829"/>
                  </a:lnTo>
                  <a:lnTo>
                    <a:pt x="3036110" y="679173"/>
                  </a:lnTo>
                  <a:lnTo>
                    <a:pt x="2995258" y="694308"/>
                  </a:lnTo>
                  <a:lnTo>
                    <a:pt x="2953531" y="709231"/>
                  </a:lnTo>
                  <a:lnTo>
                    <a:pt x="2910941" y="723940"/>
                  </a:lnTo>
                  <a:lnTo>
                    <a:pt x="2867500" y="738430"/>
                  </a:lnTo>
                  <a:lnTo>
                    <a:pt x="2823218" y="752698"/>
                  </a:lnTo>
                  <a:lnTo>
                    <a:pt x="2778107" y="766742"/>
                  </a:lnTo>
                  <a:lnTo>
                    <a:pt x="2732177" y="780558"/>
                  </a:lnTo>
                  <a:lnTo>
                    <a:pt x="2685441" y="794142"/>
                  </a:lnTo>
                  <a:lnTo>
                    <a:pt x="2637909" y="807492"/>
                  </a:lnTo>
                  <a:lnTo>
                    <a:pt x="2589593" y="820604"/>
                  </a:lnTo>
                  <a:lnTo>
                    <a:pt x="2540503" y="833475"/>
                  </a:lnTo>
                  <a:lnTo>
                    <a:pt x="2490651" y="846101"/>
                  </a:lnTo>
                  <a:lnTo>
                    <a:pt x="2440047" y="858480"/>
                  </a:lnTo>
                  <a:lnTo>
                    <a:pt x="2388704" y="870609"/>
                  </a:lnTo>
                  <a:lnTo>
                    <a:pt x="2336633" y="882483"/>
                  </a:lnTo>
                  <a:lnTo>
                    <a:pt x="2283844" y="894100"/>
                  </a:lnTo>
                  <a:lnTo>
                    <a:pt x="2230349" y="905456"/>
                  </a:lnTo>
                  <a:lnTo>
                    <a:pt x="2176158" y="916549"/>
                  </a:lnTo>
                  <a:lnTo>
                    <a:pt x="2121284" y="927374"/>
                  </a:lnTo>
                  <a:lnTo>
                    <a:pt x="2065737" y="937929"/>
                  </a:lnTo>
                  <a:lnTo>
                    <a:pt x="2009529" y="948211"/>
                  </a:lnTo>
                  <a:lnTo>
                    <a:pt x="1952670" y="958215"/>
                  </a:lnTo>
                  <a:lnTo>
                    <a:pt x="1895172" y="967940"/>
                  </a:lnTo>
                  <a:lnTo>
                    <a:pt x="1837046" y="977381"/>
                  </a:lnTo>
                  <a:lnTo>
                    <a:pt x="1778304" y="986536"/>
                  </a:lnTo>
                  <a:lnTo>
                    <a:pt x="1718956" y="995401"/>
                  </a:lnTo>
                  <a:lnTo>
                    <a:pt x="1659013" y="1003973"/>
                  </a:lnTo>
                  <a:lnTo>
                    <a:pt x="1598487" y="1012249"/>
                  </a:lnTo>
                  <a:lnTo>
                    <a:pt x="1537390" y="1020225"/>
                  </a:lnTo>
                  <a:lnTo>
                    <a:pt x="1475731" y="1027898"/>
                  </a:lnTo>
                  <a:lnTo>
                    <a:pt x="1413523" y="1035265"/>
                  </a:lnTo>
                  <a:lnTo>
                    <a:pt x="1350776" y="1042323"/>
                  </a:lnTo>
                  <a:lnTo>
                    <a:pt x="1287503" y="1049068"/>
                  </a:lnTo>
                  <a:lnTo>
                    <a:pt x="1223713" y="1055497"/>
                  </a:lnTo>
                  <a:lnTo>
                    <a:pt x="1159418" y="1061607"/>
                  </a:lnTo>
                  <a:lnTo>
                    <a:pt x="1094629" y="1067395"/>
                  </a:lnTo>
                  <a:lnTo>
                    <a:pt x="1029358" y="1072857"/>
                  </a:lnTo>
                  <a:lnTo>
                    <a:pt x="963616" y="1077991"/>
                  </a:lnTo>
                  <a:lnTo>
                    <a:pt x="897413" y="1082792"/>
                  </a:lnTo>
                  <a:lnTo>
                    <a:pt x="830762" y="1087258"/>
                  </a:lnTo>
                  <a:lnTo>
                    <a:pt x="763673" y="1091386"/>
                  </a:lnTo>
                  <a:lnTo>
                    <a:pt x="696157" y="1095171"/>
                  </a:lnTo>
                  <a:lnTo>
                    <a:pt x="628226" y="1098612"/>
                  </a:lnTo>
                  <a:lnTo>
                    <a:pt x="559891" y="1101704"/>
                  </a:lnTo>
                  <a:lnTo>
                    <a:pt x="491162" y="1104444"/>
                  </a:lnTo>
                  <a:lnTo>
                    <a:pt x="422052" y="1106830"/>
                  </a:lnTo>
                  <a:lnTo>
                    <a:pt x="352571" y="1108858"/>
                  </a:lnTo>
                  <a:lnTo>
                    <a:pt x="282731" y="1110524"/>
                  </a:lnTo>
                  <a:lnTo>
                    <a:pt x="212543" y="1111825"/>
                  </a:lnTo>
                  <a:lnTo>
                    <a:pt x="142017" y="1112759"/>
                  </a:lnTo>
                  <a:lnTo>
                    <a:pt x="71166" y="1113322"/>
                  </a:lnTo>
                  <a:lnTo>
                    <a:pt x="0" y="1113510"/>
                  </a:lnTo>
                  <a:lnTo>
                    <a:pt x="278384" y="1113510"/>
                  </a:lnTo>
                  <a:lnTo>
                    <a:pt x="349550" y="1113322"/>
                  </a:lnTo>
                  <a:lnTo>
                    <a:pt x="420401" y="1112759"/>
                  </a:lnTo>
                  <a:lnTo>
                    <a:pt x="490927" y="1111825"/>
                  </a:lnTo>
                  <a:lnTo>
                    <a:pt x="561115" y="1110524"/>
                  </a:lnTo>
                  <a:lnTo>
                    <a:pt x="630955" y="1108858"/>
                  </a:lnTo>
                  <a:lnTo>
                    <a:pt x="700436" y="1106830"/>
                  </a:lnTo>
                  <a:lnTo>
                    <a:pt x="769546" y="1104444"/>
                  </a:lnTo>
                  <a:lnTo>
                    <a:pt x="838275" y="1101704"/>
                  </a:lnTo>
                  <a:lnTo>
                    <a:pt x="906610" y="1098612"/>
                  </a:lnTo>
                  <a:lnTo>
                    <a:pt x="974541" y="1095171"/>
                  </a:lnTo>
                  <a:lnTo>
                    <a:pt x="1042057" y="1091386"/>
                  </a:lnTo>
                  <a:lnTo>
                    <a:pt x="1109146" y="1087258"/>
                  </a:lnTo>
                  <a:lnTo>
                    <a:pt x="1175797" y="1082792"/>
                  </a:lnTo>
                  <a:lnTo>
                    <a:pt x="1242000" y="1077991"/>
                  </a:lnTo>
                  <a:lnTo>
                    <a:pt x="1307742" y="1072857"/>
                  </a:lnTo>
                  <a:lnTo>
                    <a:pt x="1373013" y="1067395"/>
                  </a:lnTo>
                  <a:lnTo>
                    <a:pt x="1437802" y="1061607"/>
                  </a:lnTo>
                  <a:lnTo>
                    <a:pt x="1502097" y="1055497"/>
                  </a:lnTo>
                  <a:lnTo>
                    <a:pt x="1565887" y="1049068"/>
                  </a:lnTo>
                  <a:lnTo>
                    <a:pt x="1629160" y="1042323"/>
                  </a:lnTo>
                  <a:lnTo>
                    <a:pt x="1691907" y="1035265"/>
                  </a:lnTo>
                  <a:lnTo>
                    <a:pt x="1754115" y="1027898"/>
                  </a:lnTo>
                  <a:lnTo>
                    <a:pt x="1815774" y="1020225"/>
                  </a:lnTo>
                  <a:lnTo>
                    <a:pt x="1876871" y="1012249"/>
                  </a:lnTo>
                  <a:lnTo>
                    <a:pt x="1937397" y="1003973"/>
                  </a:lnTo>
                  <a:lnTo>
                    <a:pt x="1997340" y="995401"/>
                  </a:lnTo>
                  <a:lnTo>
                    <a:pt x="2056688" y="986536"/>
                  </a:lnTo>
                  <a:lnTo>
                    <a:pt x="2115430" y="977381"/>
                  </a:lnTo>
                  <a:lnTo>
                    <a:pt x="2173556" y="967940"/>
                  </a:lnTo>
                  <a:lnTo>
                    <a:pt x="2231054" y="958215"/>
                  </a:lnTo>
                  <a:lnTo>
                    <a:pt x="2287913" y="948211"/>
                  </a:lnTo>
                  <a:lnTo>
                    <a:pt x="2344121" y="937929"/>
                  </a:lnTo>
                  <a:lnTo>
                    <a:pt x="2399668" y="927374"/>
                  </a:lnTo>
                  <a:lnTo>
                    <a:pt x="2454542" y="916549"/>
                  </a:lnTo>
                  <a:lnTo>
                    <a:pt x="2508733" y="905456"/>
                  </a:lnTo>
                  <a:lnTo>
                    <a:pt x="2562228" y="894100"/>
                  </a:lnTo>
                  <a:lnTo>
                    <a:pt x="2615017" y="882483"/>
                  </a:lnTo>
                  <a:lnTo>
                    <a:pt x="2667088" y="870609"/>
                  </a:lnTo>
                  <a:lnTo>
                    <a:pt x="2718431" y="858480"/>
                  </a:lnTo>
                  <a:lnTo>
                    <a:pt x="2769035" y="846101"/>
                  </a:lnTo>
                  <a:lnTo>
                    <a:pt x="2818887" y="833475"/>
                  </a:lnTo>
                  <a:lnTo>
                    <a:pt x="2867977" y="820604"/>
                  </a:lnTo>
                  <a:lnTo>
                    <a:pt x="2916293" y="807492"/>
                  </a:lnTo>
                  <a:lnTo>
                    <a:pt x="2963825" y="794142"/>
                  </a:lnTo>
                  <a:lnTo>
                    <a:pt x="3010561" y="780558"/>
                  </a:lnTo>
                  <a:lnTo>
                    <a:pt x="3056491" y="766742"/>
                  </a:lnTo>
                  <a:lnTo>
                    <a:pt x="3101602" y="752698"/>
                  </a:lnTo>
                  <a:lnTo>
                    <a:pt x="3145884" y="738430"/>
                  </a:lnTo>
                  <a:lnTo>
                    <a:pt x="3189325" y="723940"/>
                  </a:lnTo>
                  <a:lnTo>
                    <a:pt x="3231915" y="709231"/>
                  </a:lnTo>
                  <a:lnTo>
                    <a:pt x="3273642" y="694308"/>
                  </a:lnTo>
                  <a:lnTo>
                    <a:pt x="3314494" y="679173"/>
                  </a:lnTo>
                  <a:lnTo>
                    <a:pt x="3354462" y="663829"/>
                  </a:lnTo>
                  <a:lnTo>
                    <a:pt x="3393533" y="648280"/>
                  </a:lnTo>
                  <a:lnTo>
                    <a:pt x="3431696" y="632529"/>
                  </a:lnTo>
                  <a:lnTo>
                    <a:pt x="3468941" y="616580"/>
                  </a:lnTo>
                  <a:lnTo>
                    <a:pt x="3505256" y="600434"/>
                  </a:lnTo>
                  <a:lnTo>
                    <a:pt x="3540629" y="584097"/>
                  </a:lnTo>
                  <a:lnTo>
                    <a:pt x="3575050" y="567570"/>
                  </a:lnTo>
                  <a:lnTo>
                    <a:pt x="3640990" y="533963"/>
                  </a:lnTo>
                  <a:lnTo>
                    <a:pt x="3702987" y="499638"/>
                  </a:lnTo>
                  <a:lnTo>
                    <a:pt x="3760950" y="464623"/>
                  </a:lnTo>
                  <a:lnTo>
                    <a:pt x="3814791" y="428942"/>
                  </a:lnTo>
                  <a:lnTo>
                    <a:pt x="3864419" y="392622"/>
                  </a:lnTo>
                  <a:lnTo>
                    <a:pt x="3909745" y="355690"/>
                  </a:lnTo>
                  <a:lnTo>
                    <a:pt x="3950681" y="318170"/>
                  </a:lnTo>
                  <a:lnTo>
                    <a:pt x="3987135" y="280089"/>
                  </a:lnTo>
                  <a:lnTo>
                    <a:pt x="4019019" y="241473"/>
                  </a:lnTo>
                  <a:lnTo>
                    <a:pt x="4046244" y="202348"/>
                  </a:lnTo>
                  <a:lnTo>
                    <a:pt x="4068719" y="162741"/>
                  </a:lnTo>
                  <a:lnTo>
                    <a:pt x="4086356" y="122676"/>
                  </a:lnTo>
                  <a:lnTo>
                    <a:pt x="4099064" y="82180"/>
                  </a:lnTo>
                  <a:lnTo>
                    <a:pt x="4106755" y="41279"/>
                  </a:lnTo>
                  <a:lnTo>
                    <a:pt x="4108691" y="20685"/>
                  </a:lnTo>
                  <a:lnTo>
                    <a:pt x="4109339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78075" y="5341874"/>
              <a:ext cx="7957820" cy="1113790"/>
            </a:xfrm>
            <a:custGeom>
              <a:avLst/>
              <a:gdLst/>
              <a:ahLst/>
              <a:cxnLst/>
              <a:rect l="l" t="t" r="r" b="b"/>
              <a:pathLst>
                <a:path w="7957820" h="1113789">
                  <a:moveTo>
                    <a:pt x="3848480" y="1113510"/>
                  </a:moveTo>
                  <a:lnTo>
                    <a:pt x="3919647" y="1113322"/>
                  </a:lnTo>
                  <a:lnTo>
                    <a:pt x="3990498" y="1112759"/>
                  </a:lnTo>
                  <a:lnTo>
                    <a:pt x="4061024" y="1111825"/>
                  </a:lnTo>
                  <a:lnTo>
                    <a:pt x="4131212" y="1110524"/>
                  </a:lnTo>
                  <a:lnTo>
                    <a:pt x="4201052" y="1108858"/>
                  </a:lnTo>
                  <a:lnTo>
                    <a:pt x="4270533" y="1106830"/>
                  </a:lnTo>
                  <a:lnTo>
                    <a:pt x="4339643" y="1104444"/>
                  </a:lnTo>
                  <a:lnTo>
                    <a:pt x="4408372" y="1101704"/>
                  </a:lnTo>
                  <a:lnTo>
                    <a:pt x="4476707" y="1098612"/>
                  </a:lnTo>
                  <a:lnTo>
                    <a:pt x="4544638" y="1095171"/>
                  </a:lnTo>
                  <a:lnTo>
                    <a:pt x="4612154" y="1091386"/>
                  </a:lnTo>
                  <a:lnTo>
                    <a:pt x="4679243" y="1087258"/>
                  </a:lnTo>
                  <a:lnTo>
                    <a:pt x="4745894" y="1082792"/>
                  </a:lnTo>
                  <a:lnTo>
                    <a:pt x="4812097" y="1077991"/>
                  </a:lnTo>
                  <a:lnTo>
                    <a:pt x="4877839" y="1072857"/>
                  </a:lnTo>
                  <a:lnTo>
                    <a:pt x="4943110" y="1067395"/>
                  </a:lnTo>
                  <a:lnTo>
                    <a:pt x="5007899" y="1061607"/>
                  </a:lnTo>
                  <a:lnTo>
                    <a:pt x="5072194" y="1055497"/>
                  </a:lnTo>
                  <a:lnTo>
                    <a:pt x="5135984" y="1049068"/>
                  </a:lnTo>
                  <a:lnTo>
                    <a:pt x="5199257" y="1042323"/>
                  </a:lnTo>
                  <a:lnTo>
                    <a:pt x="5262004" y="1035265"/>
                  </a:lnTo>
                  <a:lnTo>
                    <a:pt x="5324212" y="1027898"/>
                  </a:lnTo>
                  <a:lnTo>
                    <a:pt x="5385871" y="1020225"/>
                  </a:lnTo>
                  <a:lnTo>
                    <a:pt x="5446968" y="1012249"/>
                  </a:lnTo>
                  <a:lnTo>
                    <a:pt x="5507494" y="1003973"/>
                  </a:lnTo>
                  <a:lnTo>
                    <a:pt x="5567437" y="995401"/>
                  </a:lnTo>
                  <a:lnTo>
                    <a:pt x="5626785" y="986536"/>
                  </a:lnTo>
                  <a:lnTo>
                    <a:pt x="5685527" y="977381"/>
                  </a:lnTo>
                  <a:lnTo>
                    <a:pt x="5743653" y="967940"/>
                  </a:lnTo>
                  <a:lnTo>
                    <a:pt x="5801151" y="958215"/>
                  </a:lnTo>
                  <a:lnTo>
                    <a:pt x="5858010" y="948211"/>
                  </a:lnTo>
                  <a:lnTo>
                    <a:pt x="5914218" y="937929"/>
                  </a:lnTo>
                  <a:lnTo>
                    <a:pt x="5969765" y="927374"/>
                  </a:lnTo>
                  <a:lnTo>
                    <a:pt x="6024639" y="916549"/>
                  </a:lnTo>
                  <a:lnTo>
                    <a:pt x="6078830" y="905456"/>
                  </a:lnTo>
                  <a:lnTo>
                    <a:pt x="6132325" y="894100"/>
                  </a:lnTo>
                  <a:lnTo>
                    <a:pt x="6185114" y="882483"/>
                  </a:lnTo>
                  <a:lnTo>
                    <a:pt x="6237185" y="870609"/>
                  </a:lnTo>
                  <a:lnTo>
                    <a:pt x="6288528" y="858480"/>
                  </a:lnTo>
                  <a:lnTo>
                    <a:pt x="6339132" y="846101"/>
                  </a:lnTo>
                  <a:lnTo>
                    <a:pt x="6388984" y="833475"/>
                  </a:lnTo>
                  <a:lnTo>
                    <a:pt x="6438074" y="820604"/>
                  </a:lnTo>
                  <a:lnTo>
                    <a:pt x="6486390" y="807492"/>
                  </a:lnTo>
                  <a:lnTo>
                    <a:pt x="6533922" y="794142"/>
                  </a:lnTo>
                  <a:lnTo>
                    <a:pt x="6580658" y="780558"/>
                  </a:lnTo>
                  <a:lnTo>
                    <a:pt x="6626588" y="766742"/>
                  </a:lnTo>
                  <a:lnTo>
                    <a:pt x="6671699" y="752698"/>
                  </a:lnTo>
                  <a:lnTo>
                    <a:pt x="6715981" y="738430"/>
                  </a:lnTo>
                  <a:lnTo>
                    <a:pt x="6759422" y="723940"/>
                  </a:lnTo>
                  <a:lnTo>
                    <a:pt x="6802012" y="709231"/>
                  </a:lnTo>
                  <a:lnTo>
                    <a:pt x="6843739" y="694308"/>
                  </a:lnTo>
                  <a:lnTo>
                    <a:pt x="6884591" y="679173"/>
                  </a:lnTo>
                  <a:lnTo>
                    <a:pt x="6924559" y="663829"/>
                  </a:lnTo>
                  <a:lnTo>
                    <a:pt x="6963630" y="648280"/>
                  </a:lnTo>
                  <a:lnTo>
                    <a:pt x="7001793" y="632529"/>
                  </a:lnTo>
                  <a:lnTo>
                    <a:pt x="7039038" y="616580"/>
                  </a:lnTo>
                  <a:lnTo>
                    <a:pt x="7075353" y="600434"/>
                  </a:lnTo>
                  <a:lnTo>
                    <a:pt x="7110726" y="584097"/>
                  </a:lnTo>
                  <a:lnTo>
                    <a:pt x="7145147" y="567570"/>
                  </a:lnTo>
                  <a:lnTo>
                    <a:pt x="7211087" y="533963"/>
                  </a:lnTo>
                  <a:lnTo>
                    <a:pt x="7273084" y="499638"/>
                  </a:lnTo>
                  <a:lnTo>
                    <a:pt x="7331047" y="464623"/>
                  </a:lnTo>
                  <a:lnTo>
                    <a:pt x="7384888" y="428942"/>
                  </a:lnTo>
                  <a:lnTo>
                    <a:pt x="7434516" y="392622"/>
                  </a:lnTo>
                  <a:lnTo>
                    <a:pt x="7479842" y="355690"/>
                  </a:lnTo>
                  <a:lnTo>
                    <a:pt x="7520778" y="318170"/>
                  </a:lnTo>
                  <a:lnTo>
                    <a:pt x="7557232" y="280089"/>
                  </a:lnTo>
                  <a:lnTo>
                    <a:pt x="7589116" y="241473"/>
                  </a:lnTo>
                  <a:lnTo>
                    <a:pt x="7616341" y="202348"/>
                  </a:lnTo>
                  <a:lnTo>
                    <a:pt x="7638816" y="162741"/>
                  </a:lnTo>
                  <a:lnTo>
                    <a:pt x="7656453" y="122676"/>
                  </a:lnTo>
                  <a:lnTo>
                    <a:pt x="7669161" y="82180"/>
                  </a:lnTo>
                  <a:lnTo>
                    <a:pt x="7676852" y="41279"/>
                  </a:lnTo>
                  <a:lnTo>
                    <a:pt x="7679435" y="0"/>
                  </a:lnTo>
                  <a:lnTo>
                    <a:pt x="7957820" y="0"/>
                  </a:lnTo>
                  <a:lnTo>
                    <a:pt x="7955236" y="41279"/>
                  </a:lnTo>
                  <a:lnTo>
                    <a:pt x="7947545" y="82180"/>
                  </a:lnTo>
                  <a:lnTo>
                    <a:pt x="7934837" y="122676"/>
                  </a:lnTo>
                  <a:lnTo>
                    <a:pt x="7917200" y="162741"/>
                  </a:lnTo>
                  <a:lnTo>
                    <a:pt x="7894725" y="202348"/>
                  </a:lnTo>
                  <a:lnTo>
                    <a:pt x="7867500" y="241473"/>
                  </a:lnTo>
                  <a:lnTo>
                    <a:pt x="7835616" y="280089"/>
                  </a:lnTo>
                  <a:lnTo>
                    <a:pt x="7799162" y="318170"/>
                  </a:lnTo>
                  <a:lnTo>
                    <a:pt x="7758226" y="355690"/>
                  </a:lnTo>
                  <a:lnTo>
                    <a:pt x="7712900" y="392622"/>
                  </a:lnTo>
                  <a:lnTo>
                    <a:pt x="7663272" y="428942"/>
                  </a:lnTo>
                  <a:lnTo>
                    <a:pt x="7609431" y="464623"/>
                  </a:lnTo>
                  <a:lnTo>
                    <a:pt x="7551468" y="499638"/>
                  </a:lnTo>
                  <a:lnTo>
                    <a:pt x="7489471" y="533963"/>
                  </a:lnTo>
                  <a:lnTo>
                    <a:pt x="7423531" y="567570"/>
                  </a:lnTo>
                  <a:lnTo>
                    <a:pt x="7389110" y="584097"/>
                  </a:lnTo>
                  <a:lnTo>
                    <a:pt x="7353737" y="600434"/>
                  </a:lnTo>
                  <a:lnTo>
                    <a:pt x="7317422" y="616580"/>
                  </a:lnTo>
                  <a:lnTo>
                    <a:pt x="7280177" y="632529"/>
                  </a:lnTo>
                  <a:lnTo>
                    <a:pt x="7242014" y="648280"/>
                  </a:lnTo>
                  <a:lnTo>
                    <a:pt x="7202943" y="663829"/>
                  </a:lnTo>
                  <a:lnTo>
                    <a:pt x="7162975" y="679173"/>
                  </a:lnTo>
                  <a:lnTo>
                    <a:pt x="7122123" y="694308"/>
                  </a:lnTo>
                  <a:lnTo>
                    <a:pt x="7080396" y="709231"/>
                  </a:lnTo>
                  <a:lnTo>
                    <a:pt x="7037806" y="723940"/>
                  </a:lnTo>
                  <a:lnTo>
                    <a:pt x="6994365" y="738430"/>
                  </a:lnTo>
                  <a:lnTo>
                    <a:pt x="6950083" y="752698"/>
                  </a:lnTo>
                  <a:lnTo>
                    <a:pt x="6904972" y="766742"/>
                  </a:lnTo>
                  <a:lnTo>
                    <a:pt x="6859042" y="780558"/>
                  </a:lnTo>
                  <a:lnTo>
                    <a:pt x="6812306" y="794142"/>
                  </a:lnTo>
                  <a:lnTo>
                    <a:pt x="6764774" y="807492"/>
                  </a:lnTo>
                  <a:lnTo>
                    <a:pt x="6716458" y="820604"/>
                  </a:lnTo>
                  <a:lnTo>
                    <a:pt x="6667368" y="833475"/>
                  </a:lnTo>
                  <a:lnTo>
                    <a:pt x="6617516" y="846101"/>
                  </a:lnTo>
                  <a:lnTo>
                    <a:pt x="6566912" y="858480"/>
                  </a:lnTo>
                  <a:lnTo>
                    <a:pt x="6515569" y="870609"/>
                  </a:lnTo>
                  <a:lnTo>
                    <a:pt x="6463498" y="882483"/>
                  </a:lnTo>
                  <a:lnTo>
                    <a:pt x="6410709" y="894100"/>
                  </a:lnTo>
                  <a:lnTo>
                    <a:pt x="6357214" y="905456"/>
                  </a:lnTo>
                  <a:lnTo>
                    <a:pt x="6303023" y="916549"/>
                  </a:lnTo>
                  <a:lnTo>
                    <a:pt x="6248149" y="927374"/>
                  </a:lnTo>
                  <a:lnTo>
                    <a:pt x="6192602" y="937929"/>
                  </a:lnTo>
                  <a:lnTo>
                    <a:pt x="6136394" y="948211"/>
                  </a:lnTo>
                  <a:lnTo>
                    <a:pt x="6079535" y="958215"/>
                  </a:lnTo>
                  <a:lnTo>
                    <a:pt x="6022037" y="967940"/>
                  </a:lnTo>
                  <a:lnTo>
                    <a:pt x="5963911" y="977381"/>
                  </a:lnTo>
                  <a:lnTo>
                    <a:pt x="5905169" y="986536"/>
                  </a:lnTo>
                  <a:lnTo>
                    <a:pt x="5845821" y="995401"/>
                  </a:lnTo>
                  <a:lnTo>
                    <a:pt x="5785878" y="1003973"/>
                  </a:lnTo>
                  <a:lnTo>
                    <a:pt x="5725352" y="1012249"/>
                  </a:lnTo>
                  <a:lnTo>
                    <a:pt x="5664255" y="1020225"/>
                  </a:lnTo>
                  <a:lnTo>
                    <a:pt x="5602596" y="1027898"/>
                  </a:lnTo>
                  <a:lnTo>
                    <a:pt x="5540388" y="1035265"/>
                  </a:lnTo>
                  <a:lnTo>
                    <a:pt x="5477641" y="1042323"/>
                  </a:lnTo>
                  <a:lnTo>
                    <a:pt x="5414368" y="1049068"/>
                  </a:lnTo>
                  <a:lnTo>
                    <a:pt x="5350578" y="1055497"/>
                  </a:lnTo>
                  <a:lnTo>
                    <a:pt x="5286283" y="1061607"/>
                  </a:lnTo>
                  <a:lnTo>
                    <a:pt x="5221494" y="1067395"/>
                  </a:lnTo>
                  <a:lnTo>
                    <a:pt x="5156223" y="1072857"/>
                  </a:lnTo>
                  <a:lnTo>
                    <a:pt x="5090481" y="1077991"/>
                  </a:lnTo>
                  <a:lnTo>
                    <a:pt x="5024278" y="1082792"/>
                  </a:lnTo>
                  <a:lnTo>
                    <a:pt x="4957627" y="1087258"/>
                  </a:lnTo>
                  <a:lnTo>
                    <a:pt x="4890538" y="1091386"/>
                  </a:lnTo>
                  <a:lnTo>
                    <a:pt x="4823022" y="1095171"/>
                  </a:lnTo>
                  <a:lnTo>
                    <a:pt x="4755091" y="1098612"/>
                  </a:lnTo>
                  <a:lnTo>
                    <a:pt x="4686756" y="1101704"/>
                  </a:lnTo>
                  <a:lnTo>
                    <a:pt x="4618027" y="1104444"/>
                  </a:lnTo>
                  <a:lnTo>
                    <a:pt x="4548917" y="1106830"/>
                  </a:lnTo>
                  <a:lnTo>
                    <a:pt x="4479436" y="1108858"/>
                  </a:lnTo>
                  <a:lnTo>
                    <a:pt x="4409596" y="1110524"/>
                  </a:lnTo>
                  <a:lnTo>
                    <a:pt x="4339408" y="1111825"/>
                  </a:lnTo>
                  <a:lnTo>
                    <a:pt x="4268882" y="1112759"/>
                  </a:lnTo>
                  <a:lnTo>
                    <a:pt x="4198031" y="1113322"/>
                  </a:lnTo>
                  <a:lnTo>
                    <a:pt x="4126865" y="1113510"/>
                  </a:lnTo>
                  <a:lnTo>
                    <a:pt x="3848480" y="1113510"/>
                  </a:lnTo>
                  <a:lnTo>
                    <a:pt x="3781404" y="1113341"/>
                  </a:lnTo>
                  <a:lnTo>
                    <a:pt x="3714556" y="1112836"/>
                  </a:lnTo>
                  <a:lnTo>
                    <a:pt x="3647948" y="1111997"/>
                  </a:lnTo>
                  <a:lnTo>
                    <a:pt x="3581591" y="1110827"/>
                  </a:lnTo>
                  <a:lnTo>
                    <a:pt x="3515497" y="1109327"/>
                  </a:lnTo>
                  <a:lnTo>
                    <a:pt x="3449675" y="1107502"/>
                  </a:lnTo>
                  <a:lnTo>
                    <a:pt x="3384138" y="1105352"/>
                  </a:lnTo>
                  <a:lnTo>
                    <a:pt x="3318895" y="1102881"/>
                  </a:lnTo>
                  <a:lnTo>
                    <a:pt x="3253959" y="1100091"/>
                  </a:lnTo>
                  <a:lnTo>
                    <a:pt x="3189339" y="1096985"/>
                  </a:lnTo>
                  <a:lnTo>
                    <a:pt x="3125047" y="1093564"/>
                  </a:lnTo>
                  <a:lnTo>
                    <a:pt x="3061094" y="1089832"/>
                  </a:lnTo>
                  <a:lnTo>
                    <a:pt x="2997491" y="1085791"/>
                  </a:lnTo>
                  <a:lnTo>
                    <a:pt x="2934249" y="1081443"/>
                  </a:lnTo>
                  <a:lnTo>
                    <a:pt x="2871378" y="1076791"/>
                  </a:lnTo>
                  <a:lnTo>
                    <a:pt x="2808890" y="1071837"/>
                  </a:lnTo>
                  <a:lnTo>
                    <a:pt x="2746796" y="1066584"/>
                  </a:lnTo>
                  <a:lnTo>
                    <a:pt x="2685107" y="1061035"/>
                  </a:lnTo>
                  <a:lnTo>
                    <a:pt x="2623833" y="1055191"/>
                  </a:lnTo>
                  <a:lnTo>
                    <a:pt x="2562986" y="1049055"/>
                  </a:lnTo>
                  <a:lnTo>
                    <a:pt x="2502576" y="1042630"/>
                  </a:lnTo>
                  <a:lnTo>
                    <a:pt x="2442615" y="1035918"/>
                  </a:lnTo>
                  <a:lnTo>
                    <a:pt x="2383114" y="1028921"/>
                  </a:lnTo>
                  <a:lnTo>
                    <a:pt x="2324083" y="1021643"/>
                  </a:lnTo>
                  <a:lnTo>
                    <a:pt x="2265533" y="1014085"/>
                  </a:lnTo>
                  <a:lnTo>
                    <a:pt x="2207476" y="1006251"/>
                  </a:lnTo>
                  <a:lnTo>
                    <a:pt x="2149922" y="998141"/>
                  </a:lnTo>
                  <a:lnTo>
                    <a:pt x="2092883" y="989760"/>
                  </a:lnTo>
                  <a:lnTo>
                    <a:pt x="2036369" y="981109"/>
                  </a:lnTo>
                  <a:lnTo>
                    <a:pt x="1980391" y="972191"/>
                  </a:lnTo>
                  <a:lnTo>
                    <a:pt x="1924961" y="963008"/>
                  </a:lnTo>
                  <a:lnTo>
                    <a:pt x="1870089" y="953563"/>
                  </a:lnTo>
                  <a:lnTo>
                    <a:pt x="1815786" y="943859"/>
                  </a:lnTo>
                  <a:lnTo>
                    <a:pt x="1762063" y="933897"/>
                  </a:lnTo>
                  <a:lnTo>
                    <a:pt x="1708932" y="923680"/>
                  </a:lnTo>
                  <a:lnTo>
                    <a:pt x="1656402" y="913212"/>
                  </a:lnTo>
                  <a:lnTo>
                    <a:pt x="1604486" y="902493"/>
                  </a:lnTo>
                  <a:lnTo>
                    <a:pt x="1553194" y="891527"/>
                  </a:lnTo>
                  <a:lnTo>
                    <a:pt x="1502537" y="880316"/>
                  </a:lnTo>
                  <a:lnTo>
                    <a:pt x="1452525" y="868863"/>
                  </a:lnTo>
                  <a:lnTo>
                    <a:pt x="1403171" y="857169"/>
                  </a:lnTo>
                  <a:lnTo>
                    <a:pt x="1354485" y="845238"/>
                  </a:lnTo>
                  <a:lnTo>
                    <a:pt x="1306478" y="833073"/>
                  </a:lnTo>
                  <a:lnTo>
                    <a:pt x="1259161" y="820674"/>
                  </a:lnTo>
                  <a:lnTo>
                    <a:pt x="1212544" y="808046"/>
                  </a:lnTo>
                  <a:lnTo>
                    <a:pt x="1166639" y="795190"/>
                  </a:lnTo>
                  <a:lnTo>
                    <a:pt x="1121458" y="782109"/>
                  </a:lnTo>
                  <a:lnTo>
                    <a:pt x="1077010" y="768805"/>
                  </a:lnTo>
                  <a:lnTo>
                    <a:pt x="1033306" y="755281"/>
                  </a:lnTo>
                  <a:lnTo>
                    <a:pt x="990359" y="741540"/>
                  </a:lnTo>
                  <a:lnTo>
                    <a:pt x="948178" y="727583"/>
                  </a:lnTo>
                  <a:lnTo>
                    <a:pt x="906775" y="713413"/>
                  </a:lnTo>
                  <a:lnTo>
                    <a:pt x="866160" y="699033"/>
                  </a:lnTo>
                  <a:lnTo>
                    <a:pt x="826345" y="684445"/>
                  </a:lnTo>
                  <a:lnTo>
                    <a:pt x="787341" y="669652"/>
                  </a:lnTo>
                  <a:lnTo>
                    <a:pt x="749158" y="654656"/>
                  </a:lnTo>
                  <a:lnTo>
                    <a:pt x="711808" y="639460"/>
                  </a:lnTo>
                  <a:lnTo>
                    <a:pt x="675301" y="624065"/>
                  </a:lnTo>
                  <a:lnTo>
                    <a:pt x="639649" y="608475"/>
                  </a:lnTo>
                  <a:lnTo>
                    <a:pt x="604862" y="592692"/>
                  </a:lnTo>
                  <a:lnTo>
                    <a:pt x="537928" y="560557"/>
                  </a:lnTo>
                  <a:lnTo>
                    <a:pt x="474588" y="527680"/>
                  </a:lnTo>
                  <a:lnTo>
                    <a:pt x="414929" y="494079"/>
                  </a:lnTo>
                  <a:lnTo>
                    <a:pt x="359038" y="459776"/>
                  </a:lnTo>
                  <a:lnTo>
                    <a:pt x="307005" y="424790"/>
                  </a:lnTo>
                  <a:lnTo>
                    <a:pt x="258915" y="389140"/>
                  </a:lnTo>
                  <a:lnTo>
                    <a:pt x="214858" y="352847"/>
                  </a:lnTo>
                  <a:lnTo>
                    <a:pt x="174921" y="315930"/>
                  </a:lnTo>
                  <a:lnTo>
                    <a:pt x="139192" y="278409"/>
                  </a:lnTo>
                  <a:lnTo>
                    <a:pt x="0" y="278409"/>
                  </a:lnTo>
                  <a:lnTo>
                    <a:pt x="156718" y="0"/>
                  </a:lnTo>
                  <a:lnTo>
                    <a:pt x="556768" y="278409"/>
                  </a:lnTo>
                  <a:lnTo>
                    <a:pt x="417575" y="278409"/>
                  </a:lnTo>
                  <a:lnTo>
                    <a:pt x="435074" y="297418"/>
                  </a:lnTo>
                  <a:lnTo>
                    <a:pt x="473318" y="334985"/>
                  </a:lnTo>
                  <a:lnTo>
                    <a:pt x="515815" y="371934"/>
                  </a:lnTo>
                  <a:lnTo>
                    <a:pt x="562476" y="408243"/>
                  </a:lnTo>
                  <a:lnTo>
                    <a:pt x="613213" y="443891"/>
                  </a:lnTo>
                  <a:lnTo>
                    <a:pt x="667934" y="478857"/>
                  </a:lnTo>
                  <a:lnTo>
                    <a:pt x="726552" y="513121"/>
                  </a:lnTo>
                  <a:lnTo>
                    <a:pt x="788975" y="546662"/>
                  </a:lnTo>
                  <a:lnTo>
                    <a:pt x="855116" y="579459"/>
                  </a:lnTo>
                  <a:lnTo>
                    <a:pt x="924883" y="611490"/>
                  </a:lnTo>
                  <a:lnTo>
                    <a:pt x="961100" y="627212"/>
                  </a:lnTo>
                  <a:lnTo>
                    <a:pt x="998189" y="642735"/>
                  </a:lnTo>
                  <a:lnTo>
                    <a:pt x="1036140" y="658056"/>
                  </a:lnTo>
                  <a:lnTo>
                    <a:pt x="1074943" y="673173"/>
                  </a:lnTo>
                  <a:lnTo>
                    <a:pt x="1114585" y="688083"/>
                  </a:lnTo>
                  <a:lnTo>
                    <a:pt x="1155055" y="702783"/>
                  </a:lnTo>
                  <a:lnTo>
                    <a:pt x="1196343" y="717271"/>
                  </a:lnTo>
                  <a:lnTo>
                    <a:pt x="1238437" y="731544"/>
                  </a:lnTo>
                  <a:lnTo>
                    <a:pt x="1281326" y="745600"/>
                  </a:lnTo>
                  <a:lnTo>
                    <a:pt x="1324998" y="759436"/>
                  </a:lnTo>
                  <a:lnTo>
                    <a:pt x="1369444" y="773049"/>
                  </a:lnTo>
                  <a:lnTo>
                    <a:pt x="1414650" y="786437"/>
                  </a:lnTo>
                  <a:lnTo>
                    <a:pt x="1460607" y="799597"/>
                  </a:lnTo>
                  <a:lnTo>
                    <a:pt x="1507303" y="812526"/>
                  </a:lnTo>
                  <a:lnTo>
                    <a:pt x="1554726" y="825222"/>
                  </a:lnTo>
                  <a:lnTo>
                    <a:pt x="1602866" y="837683"/>
                  </a:lnTo>
                  <a:lnTo>
                    <a:pt x="1651712" y="849905"/>
                  </a:lnTo>
                  <a:lnTo>
                    <a:pt x="1701252" y="861886"/>
                  </a:lnTo>
                  <a:lnTo>
                    <a:pt x="1751475" y="873624"/>
                  </a:lnTo>
                  <a:lnTo>
                    <a:pt x="1802370" y="885115"/>
                  </a:lnTo>
                  <a:lnTo>
                    <a:pt x="1853925" y="896358"/>
                  </a:lnTo>
                  <a:lnTo>
                    <a:pt x="1906130" y="907349"/>
                  </a:lnTo>
                  <a:lnTo>
                    <a:pt x="1958974" y="918086"/>
                  </a:lnTo>
                  <a:lnTo>
                    <a:pt x="2012444" y="928567"/>
                  </a:lnTo>
                  <a:lnTo>
                    <a:pt x="2066530" y="938788"/>
                  </a:lnTo>
                  <a:lnTo>
                    <a:pt x="2121222" y="948747"/>
                  </a:lnTo>
                  <a:lnTo>
                    <a:pt x="2176506" y="958442"/>
                  </a:lnTo>
                  <a:lnTo>
                    <a:pt x="2232373" y="967870"/>
                  </a:lnTo>
                  <a:lnTo>
                    <a:pt x="2288812" y="977028"/>
                  </a:lnTo>
                  <a:lnTo>
                    <a:pt x="2345810" y="985914"/>
                  </a:lnTo>
                  <a:lnTo>
                    <a:pt x="2403357" y="994524"/>
                  </a:lnTo>
                  <a:lnTo>
                    <a:pt x="2461442" y="1002857"/>
                  </a:lnTo>
                  <a:lnTo>
                    <a:pt x="2520053" y="1010910"/>
                  </a:lnTo>
                  <a:lnTo>
                    <a:pt x="2579179" y="1018681"/>
                  </a:lnTo>
                  <a:lnTo>
                    <a:pt x="2638809" y="1026165"/>
                  </a:lnTo>
                  <a:lnTo>
                    <a:pt x="2698933" y="1033362"/>
                  </a:lnTo>
                  <a:lnTo>
                    <a:pt x="2759538" y="1040268"/>
                  </a:lnTo>
                  <a:lnTo>
                    <a:pt x="2820613" y="1046881"/>
                  </a:lnTo>
                  <a:lnTo>
                    <a:pt x="2882148" y="1053198"/>
                  </a:lnTo>
                  <a:lnTo>
                    <a:pt x="2944131" y="1059217"/>
                  </a:lnTo>
                  <a:lnTo>
                    <a:pt x="3006551" y="1064934"/>
                  </a:lnTo>
                  <a:lnTo>
                    <a:pt x="3069396" y="1070348"/>
                  </a:lnTo>
                  <a:lnTo>
                    <a:pt x="3132656" y="1075455"/>
                  </a:lnTo>
                  <a:lnTo>
                    <a:pt x="3196320" y="1080253"/>
                  </a:lnTo>
                  <a:lnTo>
                    <a:pt x="3260376" y="1084740"/>
                  </a:lnTo>
                  <a:lnTo>
                    <a:pt x="3324812" y="1088913"/>
                  </a:lnTo>
                  <a:lnTo>
                    <a:pt x="3389619" y="1092769"/>
                  </a:lnTo>
                  <a:lnTo>
                    <a:pt x="3454784" y="1096306"/>
                  </a:lnTo>
                  <a:lnTo>
                    <a:pt x="3520296" y="1099520"/>
                  </a:lnTo>
                  <a:lnTo>
                    <a:pt x="3586145" y="1102410"/>
                  </a:lnTo>
                  <a:lnTo>
                    <a:pt x="3652319" y="1104973"/>
                  </a:lnTo>
                  <a:lnTo>
                    <a:pt x="3718807" y="1107206"/>
                  </a:lnTo>
                  <a:lnTo>
                    <a:pt x="3785597" y="1109106"/>
                  </a:lnTo>
                  <a:lnTo>
                    <a:pt x="3852679" y="1110671"/>
                  </a:lnTo>
                  <a:lnTo>
                    <a:pt x="3920041" y="1111899"/>
                  </a:lnTo>
                  <a:lnTo>
                    <a:pt x="3987673" y="1112786"/>
                  </a:lnTo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74877" y="3354451"/>
            <a:ext cx="9245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Filtro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negocio.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4877" y="3902786"/>
            <a:ext cx="10712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Estudio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variables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37561" y="3434588"/>
            <a:ext cx="1386840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Calibri"/>
                <a:cs typeface="Calibri"/>
              </a:rPr>
              <a:t>Se </a:t>
            </a:r>
            <a:r>
              <a:rPr sz="1400" i="1" spc="-10" dirty="0">
                <a:latin typeface="Calibri"/>
                <a:cs typeface="Calibri"/>
              </a:rPr>
              <a:t>transforma</a:t>
            </a:r>
            <a:r>
              <a:rPr sz="1400" i="1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en </a:t>
            </a:r>
            <a:r>
              <a:rPr sz="1400" i="1" dirty="0">
                <a:latin typeface="Calibri"/>
                <a:cs typeface="Calibri"/>
              </a:rPr>
              <a:t>una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única </a:t>
            </a:r>
            <a:r>
              <a:rPr sz="1400" i="1" dirty="0">
                <a:latin typeface="Calibri"/>
                <a:cs typeface="Calibri"/>
              </a:rPr>
              <a:t>dimensión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para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las </a:t>
            </a:r>
            <a:r>
              <a:rPr sz="1400" i="1" dirty="0">
                <a:latin typeface="Calibri"/>
                <a:cs typeface="Calibri"/>
              </a:rPr>
              <a:t>variables</a:t>
            </a:r>
            <a:r>
              <a:rPr sz="1400" i="1" spc="-75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en </a:t>
            </a:r>
            <a:r>
              <a:rPr sz="1400" i="1" spc="-10" dirty="0">
                <a:latin typeface="Calibri"/>
                <a:cs typeface="Calibri"/>
              </a:rPr>
              <a:t>estudio.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07282" y="3343147"/>
            <a:ext cx="132905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Eliminación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o 	</a:t>
            </a:r>
            <a:r>
              <a:rPr sz="1400" spc="-10" dirty="0">
                <a:latin typeface="Calibri"/>
                <a:cs typeface="Calibri"/>
              </a:rPr>
              <a:t>agrupamiento 	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outliers.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67909" y="3313277"/>
            <a:ext cx="1358900" cy="14585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60"/>
              </a:spcBef>
            </a:pPr>
            <a:r>
              <a:rPr sz="1400" spc="-10" dirty="0">
                <a:latin typeface="Calibri"/>
                <a:cs typeface="Calibri"/>
              </a:rPr>
              <a:t>variables.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Método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b="1" i="1" spc="-25" dirty="0">
                <a:latin typeface="Calibri"/>
                <a:cs typeface="Calibri"/>
              </a:rPr>
              <a:t>PCA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spc="-10" dirty="0">
                <a:latin typeface="Calibri"/>
                <a:cs typeface="Calibri"/>
              </a:rPr>
              <a:t>Características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componentes.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55714" y="3343147"/>
            <a:ext cx="136842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Análisis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indicadores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segmentación.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55714" y="4105147"/>
            <a:ext cx="123253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Segmento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b="1" i="1" spc="-25" dirty="0">
                <a:latin typeface="Calibri"/>
                <a:cs typeface="Calibri"/>
              </a:rPr>
              <a:t>K-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400" b="1" i="1" spc="-10" dirty="0">
                <a:latin typeface="Calibri"/>
                <a:cs typeface="Calibri"/>
              </a:rPr>
              <a:t>Means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55714" y="4654041"/>
            <a:ext cx="10401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spc="-10" dirty="0">
                <a:latin typeface="Calibri"/>
                <a:cs typeface="Calibri"/>
              </a:rPr>
              <a:t>Segmento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400" b="1" i="1" spc="-10" dirty="0">
                <a:latin typeface="Calibri"/>
                <a:cs typeface="Calibri"/>
              </a:rPr>
              <a:t>DBSCAN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1718" y="3556508"/>
            <a:ext cx="13620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spc="-10" dirty="0">
                <a:latin typeface="Calibri"/>
                <a:cs typeface="Calibri"/>
              </a:rPr>
              <a:t>Correlación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Segmentos.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11718" y="4105147"/>
            <a:ext cx="116967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Elección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del </a:t>
            </a:r>
            <a:r>
              <a:rPr sz="1400" spc="-10" dirty="0">
                <a:latin typeface="Calibri"/>
                <a:cs typeface="Calibri"/>
              </a:rPr>
              <a:t>Segmento apropiado.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855827" y="2552192"/>
          <a:ext cx="10408285" cy="903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0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8135" indent="-28638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1813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Construcción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2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07670" indent="-28702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0767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Dimensión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4490" indent="-28638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6449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Análisis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7185" indent="-28638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3718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Análisis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7185" indent="-28638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3718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Modelo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7820" indent="-28638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3782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Análisis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51790" indent="-28702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5179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Características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R="3175" algn="ctr">
                        <a:lnSpc>
                          <a:spcPts val="151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matriz.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695" algn="ctr">
                        <a:lnSpc>
                          <a:spcPts val="142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variables.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ts val="142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outliers.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ts val="142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reducción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42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segmentación.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42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distribución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142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ts val="139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dimensión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39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segmentos.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139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segmentos.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object 47"/>
          <p:cNvSpPr txBox="1"/>
          <p:nvPr/>
        </p:nvSpPr>
        <p:spPr>
          <a:xfrm>
            <a:off x="9885933" y="3556508"/>
            <a:ext cx="146367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spc="-10" dirty="0">
                <a:latin typeface="Calibri"/>
                <a:cs typeface="Calibri"/>
              </a:rPr>
              <a:t>Visualización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migración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segmentos.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885933" y="4318203"/>
            <a:ext cx="124015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spc="-10" dirty="0">
                <a:latin typeface="Calibri"/>
                <a:cs typeface="Calibri"/>
              </a:rPr>
              <a:t>Visualización </a:t>
            </a:r>
            <a:r>
              <a:rPr sz="1400" b="1" dirty="0">
                <a:latin typeface="Calibri"/>
                <a:cs typeface="Calibri"/>
              </a:rPr>
              <a:t>SOM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b="1" i="1" spc="-10" dirty="0">
                <a:latin typeface="Calibri"/>
                <a:cs typeface="Calibri"/>
              </a:rPr>
              <a:t>Kohonen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63361" y="6027216"/>
            <a:ext cx="157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7E7E7E"/>
                </a:solidFill>
                <a:latin typeface="Calibri"/>
                <a:cs typeface="Calibri"/>
              </a:rPr>
              <a:t>Retroalimentación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487169" y="1319402"/>
            <a:ext cx="9330055" cy="458470"/>
            <a:chOff x="1487169" y="1319402"/>
            <a:chExt cx="9330055" cy="458470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344" y="1322577"/>
              <a:ext cx="9323197" cy="45161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490344" y="1322577"/>
              <a:ext cx="9323705" cy="452120"/>
            </a:xfrm>
            <a:custGeom>
              <a:avLst/>
              <a:gdLst/>
              <a:ahLst/>
              <a:cxnLst/>
              <a:rect l="l" t="t" r="r" b="b"/>
              <a:pathLst>
                <a:path w="9323705" h="452119">
                  <a:moveTo>
                    <a:pt x="0" y="112902"/>
                  </a:moveTo>
                  <a:lnTo>
                    <a:pt x="8919972" y="112902"/>
                  </a:lnTo>
                  <a:lnTo>
                    <a:pt x="8919972" y="0"/>
                  </a:lnTo>
                  <a:lnTo>
                    <a:pt x="9323197" y="225806"/>
                  </a:lnTo>
                  <a:lnTo>
                    <a:pt x="8919972" y="451612"/>
                  </a:lnTo>
                  <a:lnTo>
                    <a:pt x="8919972" y="338709"/>
                  </a:lnTo>
                  <a:lnTo>
                    <a:pt x="0" y="338709"/>
                  </a:lnTo>
                  <a:lnTo>
                    <a:pt x="0" y="112902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959858" y="1401825"/>
            <a:ext cx="2185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Proceso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Segmentación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13579" y="3007867"/>
            <a:ext cx="25977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solidFill>
                  <a:srgbClr val="FFFFFF"/>
                </a:solidFill>
              </a:rPr>
              <a:t>¡GRACIAS!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738</Words>
  <Application>Microsoft Office PowerPoint</Application>
  <PresentationFormat>Panorámica</PresentationFormat>
  <Paragraphs>151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Arial MT</vt:lpstr>
      <vt:lpstr>Arial Rounded MT Bold</vt:lpstr>
      <vt:lpstr>Calibri</vt:lpstr>
      <vt:lpstr>Calibri Light</vt:lpstr>
      <vt:lpstr>Geometria</vt:lpstr>
      <vt:lpstr>Microsoft Sans Serif</vt:lpstr>
      <vt:lpstr>Times New Roman</vt:lpstr>
      <vt:lpstr>Wingdings</vt:lpstr>
      <vt:lpstr>Office Theme</vt:lpstr>
      <vt:lpstr>MACHINE LEARNING</vt:lpstr>
      <vt:lpstr>Presentación de PowerPoint</vt:lpstr>
      <vt:lpstr>Presentación de PowerPoint</vt:lpstr>
      <vt:lpstr>AGENDA:</vt:lpstr>
      <vt:lpstr>MODELOS NO SUPERVISADOS</vt:lpstr>
      <vt:lpstr>MODELOS NO SUPERVISADOS</vt:lpstr>
      <vt:lpstr>Agrupamiento basado en Densidad</vt:lpstr>
      <vt:lpstr>Características</vt:lpstr>
      <vt:lpstr>Segmentos de Densidad:</vt:lpstr>
      <vt:lpstr>Segmentación DBSCAN</vt:lpstr>
      <vt:lpstr>Características</vt:lpstr>
      <vt:lpstr>DBSCAN</vt:lpstr>
      <vt:lpstr>DBSCAN</vt:lpstr>
      <vt:lpstr>DBSCAN</vt:lpstr>
      <vt:lpstr>DBSCAN</vt:lpstr>
      <vt:lpstr>Para el caso de un cluster muy disperso y otro compacto uno cercano al otro ¿qué pasaría?</vt:lpstr>
      <vt:lpstr>Metodología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</dc:creator>
  <cp:lastModifiedBy>Cesar Manuel Quezada Balcazar</cp:lastModifiedBy>
  <cp:revision>2</cp:revision>
  <dcterms:created xsi:type="dcterms:W3CDTF">2026-02-14T04:04:31Z</dcterms:created>
  <dcterms:modified xsi:type="dcterms:W3CDTF">2026-02-14T04:11:26Z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2026-02-14T00:00:00Z</vt:filetime>
  </property>
  <property fmtid="{D5CDD505-2E9C-101B-9397-08002B2CF9AE}" pid="5" name="Producer">
    <vt:lpwstr>Microsoft® PowerPoint® para Microsoft 365</vt:lpwstr>
  </property>
</Properties>
</file>